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9958-6603-6B54-0635-10AD2396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686FE-7D21-7AED-DCC3-7E4EC7B91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1E074-437F-448B-7D5B-4249F35A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EE75-A232-5A74-B28D-199BB62A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F9428-2558-E9A7-A875-1E38A2FE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10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663C-0A0F-5227-727C-30A39B7E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EEEC5-5DF6-F369-14B4-C29AAE00B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874A9-8C7C-DF40-7A20-62750AD2E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90EB4-8416-3B94-2A0F-55E85F30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A306-24E4-BAE1-9651-940E5B05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88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D202-2C09-4D8A-6C3D-F6F19A9AB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3B031-15CD-0E41-A576-650C548EA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3B8DF-2587-81EC-D438-746846ED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627D9-D204-CBFD-8334-9715BC82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A6710-9824-9CCE-C34D-7657F279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3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1199-9725-3E75-5BFC-0AFA020A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54D8C-5759-4D24-882E-82B0E92EBC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B35CF-19DD-29E9-871B-BDF845353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F02C5-0490-C039-088A-DACE02C9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86D89-FE65-CD40-08FF-15DA549D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602D1-CCF3-51E6-27CD-4D1E472F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25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C28D-3A8A-8F35-0A2D-12733808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3E4FB-62E1-4B92-2DAC-FB71BCF96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BB1B7-6D27-98DE-E24D-798B92559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BFC4D-66BB-58F9-C5A6-DA38F0850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109B6-0BA7-F5F5-3E44-1FB5564B9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1D8A0-2AD7-857D-FA51-3960118D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0BCFAB-13A7-2FB3-4095-9A206A3AF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700EA-B6AF-7295-7789-18FB0D3D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372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8867-95E0-8450-1340-22E7C114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D1C2C-B9CE-7F9B-0FBE-F0FBD843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2AE06-3FE3-8314-82C7-D5E17749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3323D-14DC-06F7-E3D8-A62D0617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682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010ED-C1A8-7F31-E77A-0A5CB22F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19973-D833-4414-346A-7DB487167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0A909-344C-845A-8D40-65ADD5E3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37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973F-2AB1-4862-6A70-22C22011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3BCA-CA24-2B90-B8A5-9A9903D48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975B-6DF0-CC9A-9A8C-362E06703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CD26D-A212-16F9-0488-2C7B9205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174F8-D54E-B7BA-14ED-3D7B469DB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4C766-D9DD-40D4-9F63-B45055D1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9257D-D596-19BB-1A36-279287DF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BE0E4-5DB7-4D27-3352-B0DAC2166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144EA-0CBF-378C-6924-45CAF3B4F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66663-DC64-4BAD-BC58-06DEC84BF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1C0AB-4235-E0C3-E3D3-2F91E43B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A434A-1AC5-0CFE-E006-20C3AB4A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8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F83E-C6E9-493E-6E31-544D5004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99BFF-0494-E32F-49E9-FDAC0AE9B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A3B5-530E-DB9D-3CEC-88151A9C2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48DA1-3AF4-61A7-A3D2-DBCEB61A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339CB-E8F6-5B01-460B-77ADD4C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68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DF8B0-EB33-2E2C-2D72-CA8520ED6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06F65-F403-9873-85C7-C37D42B90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2712-EAB4-FCE6-CE55-611629CC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7AA99-79DD-2C4E-C67D-1D5F78B7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5F1AC-0726-8911-1A58-223A1918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98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E522E-F41D-DF4E-8F6C-5E346AC1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A3C55-71C8-B408-5156-797C3F0B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BCFC2-9E02-1F0F-D2AA-BD3CE60B5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52F77-0D3B-4F4D-AC78-E22ADE9B6A56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31BE-A9E5-71DE-8D8B-945F78EB4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63810-B72A-E0BA-0978-EA6E488658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82F51-97F4-43D7-8E56-7F07585350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7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701036-2DB3-659C-F13E-04A4B5E21065}"/>
              </a:ext>
            </a:extLst>
          </p:cNvPr>
          <p:cNvSpPr txBox="1"/>
          <p:nvPr/>
        </p:nvSpPr>
        <p:spPr>
          <a:xfrm>
            <a:off x="635000" y="635000"/>
            <a:ext cx="1092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3400" b="1">
                <a:solidFill>
                  <a:srgbClr val="146DFF"/>
                </a:solidFill>
              </a:rPr>
              <a:t>What is Dapr?</a:t>
            </a:r>
            <a:endParaRPr lang="ru-RU" sz="3400" b="1">
              <a:solidFill>
                <a:srgbClr val="146DFF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2B0A06-604E-1A8E-A548-7C95A1D0883E}"/>
              </a:ext>
            </a:extLst>
          </p:cNvPr>
          <p:cNvCxnSpPr/>
          <p:nvPr/>
        </p:nvCxnSpPr>
        <p:spPr>
          <a:xfrm>
            <a:off x="635000" y="1803400"/>
            <a:ext cx="10922000" cy="0"/>
          </a:xfrm>
          <a:prstGeom prst="line">
            <a:avLst/>
          </a:prstGeom>
          <a:ln w="25400">
            <a:solidFill>
              <a:srgbClr val="14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D7ED7B0-21D8-B9B0-B648-FE3E20709C94}"/>
              </a:ext>
            </a:extLst>
          </p:cNvPr>
          <p:cNvSpPr txBox="1"/>
          <p:nvPr/>
        </p:nvSpPr>
        <p:spPr>
          <a:xfrm>
            <a:off x="635000" y="15240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46E82"/>
                </a:solidFill>
              </a:rPr>
              <a:t>Distributed Application Runtime  |  CNCF Incubating Project  |  dapr.io  |  v1.17 used in this demo</a:t>
            </a:r>
            <a:endParaRPr lang="ru-RU" sz="1400">
              <a:solidFill>
                <a:srgbClr val="646E8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5780F-369C-8F52-90A9-85E9DCD8E4D0}"/>
              </a:ext>
            </a:extLst>
          </p:cNvPr>
          <p:cNvSpPr txBox="1"/>
          <p:nvPr/>
        </p:nvSpPr>
        <p:spPr>
          <a:xfrm>
            <a:off x="762000" y="2082800"/>
            <a:ext cx="10795000" cy="312906"/>
          </a:xfrm>
          <a:prstGeom prst="rect">
            <a:avLst/>
          </a:prstGeom>
          <a:noFill/>
        </p:spPr>
        <p:txBody>
          <a:bodyPr vert="horz" wrap="square" lIns="76200" tIns="50800" rtlCol="0">
            <a:spAutoFit/>
          </a:bodyPr>
          <a:lstStyle/>
          <a:p>
            <a:r>
              <a:rPr lang="nb-NO" sz="1400" b="1">
                <a:solidFill>
                  <a:srgbClr val="146DFF"/>
                </a:solidFill>
              </a:rPr>
              <a:t>▸  Sidecar pattern   </a:t>
            </a:r>
            <a:r>
              <a:rPr lang="en-US" sz="1300">
                <a:solidFill>
                  <a:srgbClr val="DCE1EB"/>
                </a:solidFill>
              </a:rPr>
              <a:t>Your service calls localhost; Dapr handles brokers, retries, secrets — no library imports required</a:t>
            </a:r>
            <a:endParaRPr lang="ru-RU" sz="1300">
              <a:solidFill>
                <a:srgbClr val="DCE1E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CBCEB-BAE9-F2B7-5F11-7AA83A31762F}"/>
              </a:ext>
            </a:extLst>
          </p:cNvPr>
          <p:cNvSpPr txBox="1"/>
          <p:nvPr/>
        </p:nvSpPr>
        <p:spPr>
          <a:xfrm>
            <a:off x="762000" y="2667000"/>
            <a:ext cx="10795000" cy="312906"/>
          </a:xfrm>
          <a:prstGeom prst="rect">
            <a:avLst/>
          </a:prstGeom>
          <a:noFill/>
        </p:spPr>
        <p:txBody>
          <a:bodyPr vert="horz" wrap="square" lIns="76200" tIns="50800" rtlCol="0">
            <a:spAutoFit/>
          </a:bodyPr>
          <a:lstStyle/>
          <a:p>
            <a:r>
              <a:rPr lang="nb-NO" sz="1400" b="1">
                <a:solidFill>
                  <a:srgbClr val="146DFF"/>
                </a:solidFill>
              </a:rPr>
              <a:t>▸  10 building blocks   </a:t>
            </a:r>
            <a:r>
              <a:rPr lang="en-US" sz="1300">
                <a:solidFill>
                  <a:srgbClr val="DCE1EB"/>
                </a:solidFill>
              </a:rPr>
              <a:t>Pub/Sub, Service Invocation, State, Actors, Workflows, Bindings, Secrets, Config, Lock, Crypto</a:t>
            </a:r>
            <a:endParaRPr lang="ru-RU" sz="1300">
              <a:solidFill>
                <a:srgbClr val="DCE1E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189BA-1E34-599E-F1D7-B5386108C78D}"/>
              </a:ext>
            </a:extLst>
          </p:cNvPr>
          <p:cNvSpPr txBox="1"/>
          <p:nvPr/>
        </p:nvSpPr>
        <p:spPr>
          <a:xfrm>
            <a:off x="762000" y="3251200"/>
            <a:ext cx="10795000" cy="312906"/>
          </a:xfrm>
          <a:prstGeom prst="rect">
            <a:avLst/>
          </a:prstGeom>
          <a:noFill/>
        </p:spPr>
        <p:txBody>
          <a:bodyPr vert="horz" wrap="square" lIns="76200" tIns="50800" rtlCol="0">
            <a:spAutoFit/>
          </a:bodyPr>
          <a:lstStyle/>
          <a:p>
            <a:r>
              <a:rPr lang="nb-NO" sz="1400" b="1">
                <a:solidFill>
                  <a:srgbClr val="146DFF"/>
                </a:solidFill>
              </a:rPr>
              <a:t>▸  Pluggable components   </a:t>
            </a:r>
            <a:r>
              <a:rPr lang="en-US" sz="1300">
                <a:solidFill>
                  <a:srgbClr val="DCE1EB"/>
                </a:solidFill>
              </a:rPr>
              <a:t>Switch from Azure Service Bus to Kafka or RabbitMQ by editing one YAML file — zero code change</a:t>
            </a:r>
            <a:endParaRPr lang="ru-RU" sz="1300">
              <a:solidFill>
                <a:srgbClr val="DCE1EB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27323-BDA9-FD7A-57B4-482F3EAA2F2F}"/>
              </a:ext>
            </a:extLst>
          </p:cNvPr>
          <p:cNvSpPr txBox="1"/>
          <p:nvPr/>
        </p:nvSpPr>
        <p:spPr>
          <a:xfrm>
            <a:off x="762000" y="3835400"/>
            <a:ext cx="10795000" cy="312906"/>
          </a:xfrm>
          <a:prstGeom prst="rect">
            <a:avLst/>
          </a:prstGeom>
          <a:noFill/>
        </p:spPr>
        <p:txBody>
          <a:bodyPr vert="horz" wrap="square" lIns="76200" tIns="50800" rtlCol="0">
            <a:spAutoFit/>
          </a:bodyPr>
          <a:lstStyle/>
          <a:p>
            <a:r>
              <a:rPr lang="nb-NO" sz="1400" b="1">
                <a:solidFill>
                  <a:srgbClr val="146DFF"/>
                </a:solidFill>
              </a:rPr>
              <a:t>▸  Built-in resiliency   </a:t>
            </a:r>
            <a:r>
              <a:rPr lang="en-US" sz="1300">
                <a:solidFill>
                  <a:srgbClr val="DCE1EB"/>
                </a:solidFill>
              </a:rPr>
              <a:t>Retries, timeouts, circuit breakers declared in resiliency.yaml — not scattered through application code</a:t>
            </a:r>
            <a:endParaRPr lang="ru-RU" sz="1300">
              <a:solidFill>
                <a:srgbClr val="DCE1EB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6B8C1-6FCB-D74B-C2E2-0D32E89FD4D9}"/>
              </a:ext>
            </a:extLst>
          </p:cNvPr>
          <p:cNvSpPr txBox="1"/>
          <p:nvPr/>
        </p:nvSpPr>
        <p:spPr>
          <a:xfrm>
            <a:off x="762000" y="4419600"/>
            <a:ext cx="10795000" cy="312906"/>
          </a:xfrm>
          <a:prstGeom prst="rect">
            <a:avLst/>
          </a:prstGeom>
          <a:noFill/>
        </p:spPr>
        <p:txBody>
          <a:bodyPr vert="horz" wrap="square" lIns="76200" tIns="50800" rtlCol="0">
            <a:spAutoFit/>
          </a:bodyPr>
          <a:lstStyle/>
          <a:p>
            <a:r>
              <a:rPr lang="nb-NO" sz="1400" b="1">
                <a:solidFill>
                  <a:srgbClr val="146DFF"/>
                </a:solidFill>
              </a:rPr>
              <a:t>▸  Observability   </a:t>
            </a:r>
            <a:r>
              <a:rPr lang="en-US" sz="1300">
                <a:solidFill>
                  <a:srgbClr val="DCE1EB"/>
                </a:solidFill>
              </a:rPr>
              <a:t>W3C distributed tracing, Prometheus metrics, structured logs via OpenTelemetry — automatic propagation</a:t>
            </a:r>
            <a:endParaRPr lang="ru-RU" sz="1300">
              <a:solidFill>
                <a:srgbClr val="DCE1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29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473CE-A71C-843C-8324-264866ED4786}"/>
              </a:ext>
            </a:extLst>
          </p:cNvPr>
          <p:cNvSpPr txBox="1"/>
          <p:nvPr/>
        </p:nvSpPr>
        <p:spPr>
          <a:xfrm>
            <a:off x="635000" y="635000"/>
            <a:ext cx="1092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46DFF"/>
                </a:solidFill>
              </a:rPr>
              <a:t>Dapr Pub/Sub vs Manual Azure Service Bus SDK</a:t>
            </a:r>
            <a:endParaRPr lang="ru-RU" sz="3400" b="1">
              <a:solidFill>
                <a:srgbClr val="146DFF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2B0C25-F64D-9BD3-731B-C7D9EDB94BBA}"/>
              </a:ext>
            </a:extLst>
          </p:cNvPr>
          <p:cNvCxnSpPr/>
          <p:nvPr/>
        </p:nvCxnSpPr>
        <p:spPr>
          <a:xfrm>
            <a:off x="635000" y="1803400"/>
            <a:ext cx="10922000" cy="0"/>
          </a:xfrm>
          <a:prstGeom prst="line">
            <a:avLst/>
          </a:prstGeom>
          <a:ln w="25400">
            <a:solidFill>
              <a:srgbClr val="14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A9E7A1-B12A-89FA-53DA-FD01F55F2F5E}"/>
              </a:ext>
            </a:extLst>
          </p:cNvPr>
          <p:cNvSpPr txBox="1"/>
          <p:nvPr/>
        </p:nvSpPr>
        <p:spPr>
          <a:xfrm>
            <a:off x="698500" y="1905000"/>
            <a:ext cx="5270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961E"/>
                </a:solidFill>
              </a:rPr>
              <a:t>Manual Azure Service Bus SDK</a:t>
            </a:r>
            <a:endParaRPr lang="ru-RU" sz="1400" b="1">
              <a:solidFill>
                <a:srgbClr val="FF961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741E5-C2DC-302C-C88F-220E1CA68CD2}"/>
              </a:ext>
            </a:extLst>
          </p:cNvPr>
          <p:cNvSpPr txBox="1"/>
          <p:nvPr/>
        </p:nvSpPr>
        <p:spPr>
          <a:xfrm>
            <a:off x="6096000" y="1905000"/>
            <a:ext cx="5397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nb-NO" sz="1400" b="1">
                <a:solidFill>
                  <a:srgbClr val="00C878"/>
                </a:solidFill>
              </a:rPr>
              <a:t>Dapr Pub/Sub</a:t>
            </a:r>
            <a:endParaRPr lang="ru-RU" sz="1400" b="1">
              <a:solidFill>
                <a:srgbClr val="00C87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ECEB9-E1CD-44CC-9E0B-95DCD84D853E}"/>
              </a:ext>
            </a:extLst>
          </p:cNvPr>
          <p:cNvSpPr txBox="1"/>
          <p:nvPr/>
        </p:nvSpPr>
        <p:spPr>
          <a:xfrm>
            <a:off x="698500" y="23622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100" b="1">
                <a:solidFill>
                  <a:srgbClr val="A0AFC8"/>
                </a:solidFill>
              </a:rPr>
              <a:t>Connection management</a:t>
            </a:r>
            <a:endParaRPr lang="ru-RU" sz="1100" b="1">
              <a:solidFill>
                <a:srgbClr val="A0AFC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F47F8-A445-9FB2-3168-5CAC0F62A8DD}"/>
              </a:ext>
            </a:extLst>
          </p:cNvPr>
          <p:cNvSpPr txBox="1"/>
          <p:nvPr/>
        </p:nvSpPr>
        <p:spPr>
          <a:xfrm>
            <a:off x="698500" y="2578100"/>
            <a:ext cx="5270500" cy="261610"/>
          </a:xfrm>
          <a:prstGeom prst="rect">
            <a:avLst/>
          </a:prstGeom>
          <a:solidFill>
            <a:srgbClr val="32230F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C88C"/>
                </a:solidFill>
              </a:rPr>
              <a:t>ServiceBusClient + senders / receivers — connection lifecycle in app code</a:t>
            </a:r>
            <a:endParaRPr lang="ru-RU" sz="1100">
              <a:solidFill>
                <a:srgbClr val="FFC88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E79CC-FE6E-CDB3-D6F6-3EA324D5E293}"/>
              </a:ext>
            </a:extLst>
          </p:cNvPr>
          <p:cNvSpPr txBox="1"/>
          <p:nvPr/>
        </p:nvSpPr>
        <p:spPr>
          <a:xfrm>
            <a:off x="6096000" y="2578100"/>
            <a:ext cx="5397500" cy="261610"/>
          </a:xfrm>
          <a:prstGeom prst="rect">
            <a:avLst/>
          </a:prstGeom>
          <a:solidFill>
            <a:srgbClr val="0A2D19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8CFFBE"/>
                </a:solidFill>
              </a:rPr>
              <a:t>Zero lines — Dapr sidecar owns the connection entirely</a:t>
            </a:r>
            <a:endParaRPr lang="ru-RU" sz="1100">
              <a:solidFill>
                <a:srgbClr val="8CFFB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1F796-EEFE-6A24-F6B3-BA62A5228F79}"/>
              </a:ext>
            </a:extLst>
          </p:cNvPr>
          <p:cNvSpPr txBox="1"/>
          <p:nvPr/>
        </p:nvSpPr>
        <p:spPr>
          <a:xfrm>
            <a:off x="698500" y="30353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100" b="1">
                <a:solidFill>
                  <a:srgbClr val="A0AFC8"/>
                </a:solidFill>
              </a:rPr>
              <a:t>Broker coupling</a:t>
            </a:r>
            <a:endParaRPr lang="ru-RU" sz="1100" b="1">
              <a:solidFill>
                <a:srgbClr val="A0AFC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E6DBB-3C03-03CB-7AF7-8761A1C67937}"/>
              </a:ext>
            </a:extLst>
          </p:cNvPr>
          <p:cNvSpPr txBox="1"/>
          <p:nvPr/>
        </p:nvSpPr>
        <p:spPr>
          <a:xfrm>
            <a:off x="698500" y="3251200"/>
            <a:ext cx="5270500" cy="261610"/>
          </a:xfrm>
          <a:prstGeom prst="rect">
            <a:avLst/>
          </a:prstGeom>
          <a:solidFill>
            <a:srgbClr val="32230F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C88C"/>
                </a:solidFill>
              </a:rPr>
              <a:t>Azure.Messaging.ServiceBus locks you to ASB; broker change means a rewrite</a:t>
            </a:r>
            <a:endParaRPr lang="ru-RU" sz="1100">
              <a:solidFill>
                <a:srgbClr val="FFC88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A7DE02-89C7-6CFA-EEE7-627FFEE70671}"/>
              </a:ext>
            </a:extLst>
          </p:cNvPr>
          <p:cNvSpPr txBox="1"/>
          <p:nvPr/>
        </p:nvSpPr>
        <p:spPr>
          <a:xfrm>
            <a:off x="6096000" y="3251200"/>
            <a:ext cx="5397500" cy="261610"/>
          </a:xfrm>
          <a:prstGeom prst="rect">
            <a:avLst/>
          </a:prstGeom>
          <a:solidFill>
            <a:srgbClr val="0A2D19"/>
          </a:solidFill>
        </p:spPr>
        <p:txBody>
          <a:bodyPr vert="horz" wrap="square" rtlCol="0">
            <a:spAutoFit/>
          </a:bodyPr>
          <a:lstStyle/>
          <a:p>
            <a:r>
              <a:rPr lang="nb-NO" sz="1100">
                <a:solidFill>
                  <a:srgbClr val="8CFFBE"/>
                </a:solidFill>
              </a:rPr>
              <a:t>YAML component swap — RabbitMQ, Kafka, Redis Streams; app code unchanged</a:t>
            </a:r>
            <a:endParaRPr lang="ru-RU" sz="1100">
              <a:solidFill>
                <a:srgbClr val="8CFFB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5E17B-0D8C-41F7-2E06-51E6A4EA2542}"/>
              </a:ext>
            </a:extLst>
          </p:cNvPr>
          <p:cNvSpPr txBox="1"/>
          <p:nvPr/>
        </p:nvSpPr>
        <p:spPr>
          <a:xfrm>
            <a:off x="698500" y="37084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100" b="1">
                <a:solidFill>
                  <a:srgbClr val="A0AFC8"/>
                </a:solidFill>
              </a:rPr>
              <a:t>Ordered delivery (sessions)</a:t>
            </a:r>
            <a:endParaRPr lang="ru-RU" sz="1100" b="1">
              <a:solidFill>
                <a:srgbClr val="A0AFC8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00F4DF-77CD-4EE0-35DD-42647B3D6CBE}"/>
              </a:ext>
            </a:extLst>
          </p:cNvPr>
          <p:cNvSpPr txBox="1"/>
          <p:nvPr/>
        </p:nvSpPr>
        <p:spPr>
          <a:xfrm>
            <a:off x="698500" y="3924300"/>
            <a:ext cx="5270500" cy="261610"/>
          </a:xfrm>
          <a:prstGeom prst="rect">
            <a:avLst/>
          </a:prstGeom>
          <a:solidFill>
            <a:srgbClr val="32230F"/>
          </a:solidFill>
        </p:spPr>
        <p:txBody>
          <a:bodyPr vert="horz" wrap="square" rtlCol="0">
            <a:spAutoFit/>
          </a:bodyPr>
          <a:lstStyle/>
          <a:p>
            <a:r>
              <a:rPr lang="nb-NO" sz="1100">
                <a:solidFill>
                  <a:srgbClr val="FFC88C"/>
                </a:solidFill>
              </a:rPr>
              <a:t>ServiceBusSessionProcessor, AcceptNextSessionAsync, lock renewal — 50+ lines</a:t>
            </a:r>
            <a:endParaRPr lang="ru-RU" sz="1100">
              <a:solidFill>
                <a:srgbClr val="FFC88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5CEB1-BCCD-EC9B-1612-1E41F92ED42E}"/>
              </a:ext>
            </a:extLst>
          </p:cNvPr>
          <p:cNvSpPr txBox="1"/>
          <p:nvPr/>
        </p:nvSpPr>
        <p:spPr>
          <a:xfrm>
            <a:off x="6096000" y="3924300"/>
            <a:ext cx="5397500" cy="261610"/>
          </a:xfrm>
          <a:prstGeom prst="rect">
            <a:avLst/>
          </a:prstGeom>
          <a:solidFill>
            <a:srgbClr val="0A2D19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8CFFBE"/>
                </a:solidFill>
              </a:rPr>
              <a:t>requireSessions: "true" in subscription.yaml — one config line</a:t>
            </a:r>
            <a:endParaRPr lang="ru-RU" sz="1100">
              <a:solidFill>
                <a:srgbClr val="8CFFB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0F752-2EE7-B03A-5188-672569ADB767}"/>
              </a:ext>
            </a:extLst>
          </p:cNvPr>
          <p:cNvSpPr txBox="1"/>
          <p:nvPr/>
        </p:nvSpPr>
        <p:spPr>
          <a:xfrm>
            <a:off x="698500" y="43815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100" b="1">
                <a:solidFill>
                  <a:srgbClr val="A0AFC8"/>
                </a:solidFill>
              </a:rPr>
              <a:t>Resiliency</a:t>
            </a:r>
            <a:endParaRPr lang="ru-RU" sz="1100" b="1">
              <a:solidFill>
                <a:srgbClr val="A0AFC8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168B0-87F7-B101-A810-51A315D1B94F}"/>
              </a:ext>
            </a:extLst>
          </p:cNvPr>
          <p:cNvSpPr txBox="1"/>
          <p:nvPr/>
        </p:nvSpPr>
        <p:spPr>
          <a:xfrm>
            <a:off x="698500" y="4597400"/>
            <a:ext cx="5270500" cy="261610"/>
          </a:xfrm>
          <a:prstGeom prst="rect">
            <a:avLst/>
          </a:prstGeom>
          <a:solidFill>
            <a:srgbClr val="32230F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C88C"/>
                </a:solidFill>
              </a:rPr>
              <a:t>Try/catch loops, manual retry policies, dead-letter wiring in every service</a:t>
            </a:r>
            <a:endParaRPr lang="ru-RU" sz="1100">
              <a:solidFill>
                <a:srgbClr val="FFC88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AEBE7-32B1-212C-1812-88DC2F172995}"/>
              </a:ext>
            </a:extLst>
          </p:cNvPr>
          <p:cNvSpPr txBox="1"/>
          <p:nvPr/>
        </p:nvSpPr>
        <p:spPr>
          <a:xfrm>
            <a:off x="6096000" y="4597400"/>
            <a:ext cx="5397500" cy="261610"/>
          </a:xfrm>
          <a:prstGeom prst="rect">
            <a:avLst/>
          </a:prstGeom>
          <a:solidFill>
            <a:srgbClr val="0A2D19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8CFFBE"/>
                </a:solidFill>
              </a:rPr>
              <a:t>Retries, timeouts, circuit breakers in resiliency.yaml — no code at all</a:t>
            </a:r>
            <a:endParaRPr lang="ru-RU" sz="1100">
              <a:solidFill>
                <a:srgbClr val="8CFFBE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2C0FC4-6A7D-493D-97AC-970E2FC2ADE8}"/>
              </a:ext>
            </a:extLst>
          </p:cNvPr>
          <p:cNvSpPr txBox="1"/>
          <p:nvPr/>
        </p:nvSpPr>
        <p:spPr>
          <a:xfrm>
            <a:off x="698500" y="50546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100" b="1">
                <a:solidFill>
                  <a:srgbClr val="A0AFC8"/>
                </a:solidFill>
              </a:rPr>
              <a:t>Observability</a:t>
            </a:r>
            <a:endParaRPr lang="ru-RU" sz="1100" b="1">
              <a:solidFill>
                <a:srgbClr val="A0AFC8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D297A-2D4F-8916-C070-38FEB0AE9AC2}"/>
              </a:ext>
            </a:extLst>
          </p:cNvPr>
          <p:cNvSpPr txBox="1"/>
          <p:nvPr/>
        </p:nvSpPr>
        <p:spPr>
          <a:xfrm>
            <a:off x="698500" y="5270500"/>
            <a:ext cx="5270500" cy="261610"/>
          </a:xfrm>
          <a:prstGeom prst="rect">
            <a:avLst/>
          </a:prstGeom>
          <a:solidFill>
            <a:srgbClr val="32230F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C88C"/>
                </a:solidFill>
              </a:rPr>
              <a:t>Manual correlation-ID threading; custom logging and metrics wiring per service</a:t>
            </a:r>
            <a:endParaRPr lang="ru-RU" sz="1100">
              <a:solidFill>
                <a:srgbClr val="FFC88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04E0EB-6C72-20A0-DF35-5220E9D40204}"/>
              </a:ext>
            </a:extLst>
          </p:cNvPr>
          <p:cNvSpPr txBox="1"/>
          <p:nvPr/>
        </p:nvSpPr>
        <p:spPr>
          <a:xfrm>
            <a:off x="6096000" y="5270500"/>
            <a:ext cx="5397500" cy="261610"/>
          </a:xfrm>
          <a:prstGeom prst="rect">
            <a:avLst/>
          </a:prstGeom>
          <a:solidFill>
            <a:srgbClr val="0A2D19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8CFFBE"/>
                </a:solidFill>
              </a:rPr>
              <a:t>W3C trace context propagated automatically; OpenTelemetry export built in</a:t>
            </a:r>
            <a:endParaRPr lang="ru-RU" sz="1100">
              <a:solidFill>
                <a:srgbClr val="8CFFB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8D8C7-6C0C-FFC7-FD14-AD684113A69A}"/>
              </a:ext>
            </a:extLst>
          </p:cNvPr>
          <p:cNvSpPr txBox="1"/>
          <p:nvPr/>
        </p:nvSpPr>
        <p:spPr>
          <a:xfrm>
            <a:off x="698500" y="57277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100" b="1">
                <a:solidFill>
                  <a:srgbClr val="A0AFC8"/>
                </a:solidFill>
              </a:rPr>
              <a:t>Local development</a:t>
            </a:r>
            <a:endParaRPr lang="ru-RU" sz="1100" b="1">
              <a:solidFill>
                <a:srgbClr val="A0AFC8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4EDEE8-6E89-7F3F-87F2-2D09E7B19CA3}"/>
              </a:ext>
            </a:extLst>
          </p:cNvPr>
          <p:cNvSpPr txBox="1"/>
          <p:nvPr/>
        </p:nvSpPr>
        <p:spPr>
          <a:xfrm>
            <a:off x="698500" y="5943600"/>
            <a:ext cx="5270500" cy="261610"/>
          </a:xfrm>
          <a:prstGeom prst="rect">
            <a:avLst/>
          </a:prstGeom>
          <a:solidFill>
            <a:srgbClr val="32230F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C88C"/>
                </a:solidFill>
              </a:rPr>
              <a:t>Needs real ASB namespace or complex mocking; high setup friction</a:t>
            </a:r>
            <a:endParaRPr lang="ru-RU" sz="1100">
              <a:solidFill>
                <a:srgbClr val="FFC88C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7F04FE-1A01-7BFC-FF56-474AC256A13D}"/>
              </a:ext>
            </a:extLst>
          </p:cNvPr>
          <p:cNvSpPr txBox="1"/>
          <p:nvPr/>
        </p:nvSpPr>
        <p:spPr>
          <a:xfrm>
            <a:off x="6096000" y="5943600"/>
            <a:ext cx="5397500" cy="261610"/>
          </a:xfrm>
          <a:prstGeom prst="rect">
            <a:avLst/>
          </a:prstGeom>
          <a:solidFill>
            <a:srgbClr val="0A2D19"/>
          </a:solidFill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8CFFBE"/>
                </a:solidFill>
              </a:rPr>
              <a:t>Local emulator, any broker via component swap; works fully offline</a:t>
            </a:r>
            <a:endParaRPr lang="ru-RU" sz="1100">
              <a:solidFill>
                <a:srgbClr val="8CFF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43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819B8-84E8-F375-4D61-03C2E7774BF0}"/>
              </a:ext>
            </a:extLst>
          </p:cNvPr>
          <p:cNvSpPr txBox="1"/>
          <p:nvPr/>
        </p:nvSpPr>
        <p:spPr>
          <a:xfrm>
            <a:off x="635000" y="635000"/>
            <a:ext cx="1092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46DFF"/>
                </a:solidFill>
              </a:rPr>
              <a:t>This Demo: Ordered Delivery in Practice</a:t>
            </a:r>
            <a:endParaRPr lang="ru-RU" sz="3400" b="1">
              <a:solidFill>
                <a:srgbClr val="146DFF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811545-505C-1DB9-B7AF-B8586A047FA9}"/>
              </a:ext>
            </a:extLst>
          </p:cNvPr>
          <p:cNvCxnSpPr/>
          <p:nvPr/>
        </p:nvCxnSpPr>
        <p:spPr>
          <a:xfrm>
            <a:off x="635000" y="1803400"/>
            <a:ext cx="10922000" cy="0"/>
          </a:xfrm>
          <a:prstGeom prst="line">
            <a:avLst/>
          </a:prstGeom>
          <a:ln w="25400">
            <a:solidFill>
              <a:srgbClr val="146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BB414B9-CAF8-18A9-94F2-5FE14E082037}"/>
              </a:ext>
            </a:extLst>
          </p:cNvPr>
          <p:cNvSpPr/>
          <p:nvPr/>
        </p:nvSpPr>
        <p:spPr>
          <a:xfrm>
            <a:off x="660400" y="2006600"/>
            <a:ext cx="2222500" cy="1016000"/>
          </a:xfrm>
          <a:prstGeom prst="rect">
            <a:avLst/>
          </a:prstGeom>
          <a:solidFill>
            <a:srgbClr val="141E41"/>
          </a:solidFill>
          <a:ln w="19050">
            <a:solidFill>
              <a:srgbClr val="146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76200" rtlCol="0" anchor="ctr"/>
          <a:lstStyle/>
          <a:p>
            <a:pPr algn="ctr"/>
            <a:r>
              <a:rPr lang="nb-NO" sz="1200" b="1">
                <a:solidFill>
                  <a:srgbClr val="FFFFFF"/>
                </a:solidFill>
              </a:rPr>
              <a:t>Publisher Worker</a:t>
            </a:r>
          </a:p>
          <a:p>
            <a:pPr algn="ctr"/>
            <a:r>
              <a:rPr lang="en-US" sz="1000">
                <a:solidFill>
                  <a:srgbClr val="DCE1EB"/>
                </a:solidFill>
              </a:rPr>
              <a:t>.NET Worker Service
publishes every 5 s</a:t>
            </a:r>
            <a:endParaRPr lang="ru-RU" sz="1000">
              <a:solidFill>
                <a:srgbClr val="DCE1EB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CE21BA-7583-C2F3-0253-8DDF3F087960}"/>
              </a:ext>
            </a:extLst>
          </p:cNvPr>
          <p:cNvCxnSpPr/>
          <p:nvPr/>
        </p:nvCxnSpPr>
        <p:spPr>
          <a:xfrm>
            <a:off x="2895600" y="2514600"/>
            <a:ext cx="635000" cy="0"/>
          </a:xfrm>
          <a:prstGeom prst="line">
            <a:avLst/>
          </a:prstGeom>
          <a:ln w="25400">
            <a:solidFill>
              <a:srgbClr val="146D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BD55DDE-C67A-34FF-2A68-2BC043C8A48D}"/>
              </a:ext>
            </a:extLst>
          </p:cNvPr>
          <p:cNvSpPr/>
          <p:nvPr/>
        </p:nvSpPr>
        <p:spPr>
          <a:xfrm>
            <a:off x="3530600" y="2006600"/>
            <a:ext cx="2349500" cy="1016000"/>
          </a:xfrm>
          <a:prstGeom prst="rect">
            <a:avLst/>
          </a:prstGeom>
          <a:solidFill>
            <a:srgbClr val="0A285A"/>
          </a:solidFill>
          <a:ln w="19050">
            <a:solidFill>
              <a:srgbClr val="146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76200" rtlCol="0" anchor="ctr"/>
          <a:lstStyle/>
          <a:p>
            <a:pPr algn="ctr"/>
            <a:r>
              <a:rPr lang="nb-NO" sz="1200" b="1">
                <a:solidFill>
                  <a:srgbClr val="FFFFFF"/>
                </a:solidFill>
              </a:rPr>
              <a:t>Dapr Sidecar (pub)</a:t>
            </a:r>
          </a:p>
          <a:p>
            <a:pPr algn="ctr"/>
            <a:r>
              <a:rPr lang="en-US" sz="1000">
                <a:solidFill>
                  <a:srgbClr val="DCE1EB"/>
                </a:solidFill>
              </a:rPr>
              <a:t>pub-app-id : 3500
attaches SessionId=session1</a:t>
            </a:r>
            <a:endParaRPr lang="ru-RU" sz="1000">
              <a:solidFill>
                <a:srgbClr val="DCE1EB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BDDB76-4D41-7A8E-A77A-1F0BD835DBFA}"/>
              </a:ext>
            </a:extLst>
          </p:cNvPr>
          <p:cNvCxnSpPr/>
          <p:nvPr/>
        </p:nvCxnSpPr>
        <p:spPr>
          <a:xfrm>
            <a:off x="5892800" y="2514600"/>
            <a:ext cx="635000" cy="0"/>
          </a:xfrm>
          <a:prstGeom prst="line">
            <a:avLst/>
          </a:prstGeom>
          <a:ln w="25400">
            <a:solidFill>
              <a:srgbClr val="146D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ABE84F4-284A-4256-5ABA-6E30F3D51ADE}"/>
              </a:ext>
            </a:extLst>
          </p:cNvPr>
          <p:cNvSpPr/>
          <p:nvPr/>
        </p:nvSpPr>
        <p:spPr>
          <a:xfrm>
            <a:off x="6527800" y="2006600"/>
            <a:ext cx="4546600" cy="1016000"/>
          </a:xfrm>
          <a:prstGeom prst="rect">
            <a:avLst/>
          </a:prstGeom>
          <a:solidFill>
            <a:srgbClr val="00326E"/>
          </a:solidFill>
          <a:ln w="19050">
            <a:solidFill>
              <a:srgbClr val="146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7620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Azure Service Bus
topic1 / subscription1</a:t>
            </a:r>
          </a:p>
          <a:p>
            <a:pPr algn="ctr"/>
            <a:r>
              <a:rPr lang="nb-NO" sz="1000">
                <a:solidFill>
                  <a:srgbClr val="DCE1EB"/>
                </a:solidFill>
              </a:rPr>
              <a:t>RequiresSession=true
FIFO guaranteed per session</a:t>
            </a:r>
            <a:endParaRPr lang="ru-RU" sz="1000">
              <a:solidFill>
                <a:srgbClr val="DCE1EB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01AE26-CD10-DCE7-EC56-5D206C07DC22}"/>
              </a:ext>
            </a:extLst>
          </p:cNvPr>
          <p:cNvCxnSpPr/>
          <p:nvPr/>
        </p:nvCxnSpPr>
        <p:spPr>
          <a:xfrm>
            <a:off x="8801100" y="3022600"/>
            <a:ext cx="0" cy="660400"/>
          </a:xfrm>
          <a:prstGeom prst="line">
            <a:avLst/>
          </a:prstGeom>
          <a:ln w="25400">
            <a:solidFill>
              <a:srgbClr val="146D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743FAAB-AFE7-6890-FF4C-A88E3B71106E}"/>
              </a:ext>
            </a:extLst>
          </p:cNvPr>
          <p:cNvSpPr/>
          <p:nvPr/>
        </p:nvSpPr>
        <p:spPr>
          <a:xfrm>
            <a:off x="6527800" y="3683000"/>
            <a:ext cx="4546600" cy="1016000"/>
          </a:xfrm>
          <a:prstGeom prst="rect">
            <a:avLst/>
          </a:prstGeom>
          <a:solidFill>
            <a:srgbClr val="0A285A"/>
          </a:solidFill>
          <a:ln w="19050">
            <a:solidFill>
              <a:srgbClr val="146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76200" rtlCol="0" anchor="ctr"/>
          <a:lstStyle/>
          <a:p>
            <a:pPr algn="ctr"/>
            <a:r>
              <a:rPr lang="nb-NO" sz="1200" b="1">
                <a:solidFill>
                  <a:srgbClr val="FFFFFF"/>
                </a:solidFill>
              </a:rPr>
              <a:t>Dapr Sidecar (sub)</a:t>
            </a:r>
          </a:p>
          <a:p>
            <a:pPr algn="ctr"/>
            <a:r>
              <a:rPr lang="nb-NO" sz="1000">
                <a:solidFill>
                  <a:srgbClr val="DCE1EB"/>
                </a:solidFill>
              </a:rPr>
              <a:t>sub-app-id : 3501
ServiceBusSessionProcessor</a:t>
            </a:r>
            <a:endParaRPr lang="ru-RU" sz="1000">
              <a:solidFill>
                <a:srgbClr val="DCE1EB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9F7713-6E6A-C399-A553-9945F1F59A88}"/>
              </a:ext>
            </a:extLst>
          </p:cNvPr>
          <p:cNvCxnSpPr/>
          <p:nvPr/>
        </p:nvCxnSpPr>
        <p:spPr>
          <a:xfrm flipH="1">
            <a:off x="5880100" y="4191000"/>
            <a:ext cx="635000" cy="0"/>
          </a:xfrm>
          <a:prstGeom prst="line">
            <a:avLst/>
          </a:prstGeom>
          <a:ln w="25400">
            <a:solidFill>
              <a:srgbClr val="146D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B79482C-6623-40A0-5300-8AED8E35DC82}"/>
              </a:ext>
            </a:extLst>
          </p:cNvPr>
          <p:cNvSpPr/>
          <p:nvPr/>
        </p:nvSpPr>
        <p:spPr>
          <a:xfrm>
            <a:off x="3530600" y="3683000"/>
            <a:ext cx="2349500" cy="1016000"/>
          </a:xfrm>
          <a:prstGeom prst="rect">
            <a:avLst/>
          </a:prstGeom>
          <a:solidFill>
            <a:srgbClr val="141E41"/>
          </a:solidFill>
          <a:ln w="19050">
            <a:solidFill>
              <a:srgbClr val="146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76200" rtlCol="0" anchor="ctr"/>
          <a:lstStyle/>
          <a:p>
            <a:pPr algn="ctr"/>
            <a:r>
              <a:rPr lang="nb-NO" sz="1200" b="1">
                <a:solidFill>
                  <a:srgbClr val="FFFFFF"/>
                </a:solidFill>
              </a:rPr>
              <a:t>POST /topic1</a:t>
            </a:r>
          </a:p>
          <a:p>
            <a:pPr algn="ctr"/>
            <a:r>
              <a:rPr lang="en-US" sz="1000">
                <a:solidFill>
                  <a:srgbClr val="DCE1EB"/>
                </a:solidFill>
              </a:rPr>
              <a:t>Push delivery
one message at a time</a:t>
            </a:r>
            <a:endParaRPr lang="ru-RU" sz="1000">
              <a:solidFill>
                <a:srgbClr val="DCE1EB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46BB0D-EA7C-AA69-719E-A253A506ED0C}"/>
              </a:ext>
            </a:extLst>
          </p:cNvPr>
          <p:cNvCxnSpPr/>
          <p:nvPr/>
        </p:nvCxnSpPr>
        <p:spPr>
          <a:xfrm flipH="1">
            <a:off x="2895600" y="4191000"/>
            <a:ext cx="622300" cy="0"/>
          </a:xfrm>
          <a:prstGeom prst="line">
            <a:avLst/>
          </a:prstGeom>
          <a:ln w="25400">
            <a:solidFill>
              <a:srgbClr val="146D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1FD30E2-A889-F6F7-F200-E8AF4E7CF87D}"/>
              </a:ext>
            </a:extLst>
          </p:cNvPr>
          <p:cNvSpPr/>
          <p:nvPr/>
        </p:nvSpPr>
        <p:spPr>
          <a:xfrm>
            <a:off x="660400" y="3683000"/>
            <a:ext cx="2222500" cy="1016000"/>
          </a:xfrm>
          <a:prstGeom prst="rect">
            <a:avLst/>
          </a:prstGeom>
          <a:solidFill>
            <a:srgbClr val="141E41"/>
          </a:solidFill>
          <a:ln w="19050">
            <a:solidFill>
              <a:srgbClr val="146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76200" rtlCol="0" anchor="ctr"/>
          <a:lstStyle/>
          <a:p>
            <a:pPr algn="ctr"/>
            <a:r>
              <a:rPr lang="nb-NO" sz="1200" b="1">
                <a:solidFill>
                  <a:srgbClr val="FFFFFF"/>
                </a:solidFill>
              </a:rPr>
              <a:t>MessageHandlerActor</a:t>
            </a:r>
          </a:p>
          <a:p>
            <a:pPr algn="ctr"/>
            <a:r>
              <a:rPr lang="en-US" sz="1000">
                <a:solidFill>
                  <a:srgbClr val="DCE1EB"/>
                </a:solidFill>
              </a:rPr>
              <a:t>Dapr Virtual Actor
resumes from Redis state</a:t>
            </a:r>
            <a:endParaRPr lang="ru-RU" sz="1000">
              <a:solidFill>
                <a:srgbClr val="DCE1EB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307C8-4AA5-CF9B-8BEC-D8201A857075}"/>
              </a:ext>
            </a:extLst>
          </p:cNvPr>
          <p:cNvSpPr txBox="1"/>
          <p:nvPr/>
        </p:nvSpPr>
        <p:spPr>
          <a:xfrm>
            <a:off x="660400" y="4927600"/>
            <a:ext cx="10922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nb-NO" sz="1300" b="1">
                <a:solidFill>
                  <a:srgbClr val="FFFFFF"/>
                </a:solidFill>
              </a:rPr>
              <a:t>Key guarantees from Dapr:</a:t>
            </a:r>
            <a:endParaRPr lang="ru-RU" sz="1300" b="1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C93CB8-8347-EA86-AF5A-913E36D05A6C}"/>
              </a:ext>
            </a:extLst>
          </p:cNvPr>
          <p:cNvSpPr txBox="1"/>
          <p:nvPr/>
        </p:nvSpPr>
        <p:spPr>
          <a:xfrm>
            <a:off x="825500" y="5257800"/>
            <a:ext cx="10858500" cy="269304"/>
          </a:xfrm>
          <a:prstGeom prst="rect">
            <a:avLst/>
          </a:prstGeom>
          <a:noFill/>
        </p:spPr>
        <p:txBody>
          <a:bodyPr vert="horz" wrap="square" tIns="38100" rtlCol="0">
            <a:spAutoFit/>
          </a:bodyPr>
          <a:lstStyle/>
          <a:p>
            <a:r>
              <a:rPr lang="nb-NO" sz="1200" b="1">
                <a:solidFill>
                  <a:srgbClr val="00C878"/>
                </a:solidFill>
              </a:rPr>
              <a:t>✔  Ordered delivery:  </a:t>
            </a:r>
            <a:r>
              <a:rPr lang="en-US" sz="1200">
                <a:solidFill>
                  <a:srgbClr val="DCE1EB"/>
                </a:solidFill>
              </a:rPr>
              <a:t>requireSessions=true — sidecar locks each session; next message only delivered after the previous ACK</a:t>
            </a:r>
            <a:endParaRPr lang="ru-RU" sz="1200">
              <a:solidFill>
                <a:srgbClr val="DCE1E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83418-D03D-82F3-4E53-3EEE21D2D25D}"/>
              </a:ext>
            </a:extLst>
          </p:cNvPr>
          <p:cNvSpPr txBox="1"/>
          <p:nvPr/>
        </p:nvSpPr>
        <p:spPr>
          <a:xfrm>
            <a:off x="825500" y="5638800"/>
            <a:ext cx="10858500" cy="269304"/>
          </a:xfrm>
          <a:prstGeom prst="rect">
            <a:avLst/>
          </a:prstGeom>
          <a:noFill/>
        </p:spPr>
        <p:txBody>
          <a:bodyPr vert="horz" wrap="square" tIns="38100" rtlCol="0">
            <a:spAutoFit/>
          </a:bodyPr>
          <a:lstStyle/>
          <a:p>
            <a:r>
              <a:rPr lang="nb-NO" sz="1200" b="1">
                <a:solidFill>
                  <a:srgbClr val="00C878"/>
                </a:solidFill>
              </a:rPr>
              <a:t>✔  Crash resiliency:  </a:t>
            </a:r>
            <a:r>
              <a:rPr lang="en-US" sz="1200">
                <a:solidFill>
                  <a:srgbClr val="DCE1EB"/>
                </a:solidFill>
              </a:rPr>
              <a:t>Actor saves progress to Redis on crash; Dapr retries the actor, which resumes from the last checkpoint</a:t>
            </a:r>
            <a:endParaRPr lang="ru-RU" sz="1200">
              <a:solidFill>
                <a:srgbClr val="DCE1E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D81C4-279A-0CE2-CDE1-B590E5274252}"/>
              </a:ext>
            </a:extLst>
          </p:cNvPr>
          <p:cNvSpPr txBox="1"/>
          <p:nvPr/>
        </p:nvSpPr>
        <p:spPr>
          <a:xfrm>
            <a:off x="825500" y="6019800"/>
            <a:ext cx="10858500" cy="269304"/>
          </a:xfrm>
          <a:prstGeom prst="rect">
            <a:avLst/>
          </a:prstGeom>
          <a:noFill/>
        </p:spPr>
        <p:txBody>
          <a:bodyPr vert="horz" wrap="square" tIns="38100" rtlCol="0">
            <a:spAutoFit/>
          </a:bodyPr>
          <a:lstStyle/>
          <a:p>
            <a:r>
              <a:rPr lang="nb-NO" sz="1200" b="1">
                <a:solidFill>
                  <a:srgbClr val="00C878"/>
                </a:solidFill>
              </a:rPr>
              <a:t>✔  Zero broker code:  </a:t>
            </a:r>
            <a:r>
              <a:rPr lang="en-US" sz="1200">
                <a:solidFill>
                  <a:srgbClr val="DCE1EB"/>
                </a:solidFill>
              </a:rPr>
              <a:t>No Azure SDK import in Publisher or Subscriber — swap the broker by editing component YAML, not code</a:t>
            </a:r>
            <a:endParaRPr lang="ru-RU" sz="1200">
              <a:solidFill>
                <a:srgbClr val="DCE1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50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Custom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 Chudinov</dc:creator>
  <cp:lastModifiedBy>Mikael Chudinov</cp:lastModifiedBy>
  <cp:revision>1</cp:revision>
  <dcterms:created xsi:type="dcterms:W3CDTF">2026-04-08T10:06:31Z</dcterms:created>
  <dcterms:modified xsi:type="dcterms:W3CDTF">2026-04-08T10:06:32Z</dcterms:modified>
</cp:coreProperties>
</file>