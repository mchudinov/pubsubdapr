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7" r:id="rId1"/>
  </p:sldMasterIdLst>
  <p:sldIdLst>
    <p:sldId id="256" r:id="rId2"/>
    <p:sldId id="259" r:id="rId3"/>
    <p:sldId id="261" r:id="rId4"/>
    <p:sldId id="257" r:id="rId5"/>
    <p:sldId id="258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3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BD058-34AB-7C7B-37BE-EDE8323135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1AE6D9-E88B-E1A1-DC2F-B79D285BE1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214776-AC5F-D04E-3805-14B6BF284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9F0950-84D7-3273-984F-3E2F28163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4453A5-7F14-E3DB-3FBE-505F92445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9339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B28ED-CCC6-DDBF-D6EE-ED59C7BC9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77186-D12A-A820-96E7-9BB74F9CF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5D027-553F-B2BE-876C-DD507A246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6C1FD6-E86A-F645-7CD7-4D49987AC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38E4EA-B95B-EB1D-E0F0-C1722F502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6475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BCDCD-E589-E5D0-E0F4-3689F0D16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F6BEB-F42A-4627-0A6C-0CE71F4AC4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CA2631-733C-1195-EC1F-C786B2AD2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BF8A5-04A9-B4FC-61C3-A0AC33AAA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3939E-38D2-EC14-895A-81EA261A7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5471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B8F39-AB29-6226-4409-73FDF011F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F2069-CEDE-814D-F7DE-756735493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D390EE-0396-F249-59D5-563B6E0AC3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EC057B-59F5-7177-13F2-148D25275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0116D3-404A-1043-4F8F-845E7FD19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262958-C7F8-E696-4D75-AA10671E8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3284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32062-8D27-A062-0936-90C4E9BB9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682561-345F-6AF2-380C-41952922C3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87A1B3-7647-B3DB-0564-A10C14E1A2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67A45A-8353-8EE1-87CC-6FFBC6A7BD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1510F1-B7A5-40A4-FDF6-1C3DC61864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2D35B1-F080-06CB-DC16-91693692C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559978-E411-505B-314D-50D500325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1BF2B4-2504-3E63-57F0-12E5E3C93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92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4282-1187-2040-A11B-EFFC17BBF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312B78-314B-D6FB-11F8-51556021D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775134-B6D6-5566-FD0C-4A171D23C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1DBDA5-74EB-14F5-ACC4-70D60D84E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0476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218A8-BD34-957E-86EF-F66F998B8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C74F27-FFEE-3607-9DA6-71B314765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A372D-B62E-9552-8330-9E754B73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6558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1277E-D0CF-8925-64FB-4E223BC22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2E5A4-F22C-A6AC-24F4-F47E1973E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0E9B87-FC8B-C3E1-DF7C-2A58AF9FF7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1C6A30-5360-1C4E-D47C-792315EBA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97F7C-555E-C71D-D5B0-742D6E875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5786B-6EC2-255B-DD7C-BA7F36EA0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3136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D069D-B4FA-43C4-3FC9-2FFA138AF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E45750-EF2C-FE0A-4CB7-80055C0898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F4425-8C0E-F992-A967-1602FF6A36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DA1982-4AE2-CD04-D76F-736EA6103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DF686-6ADF-E280-9AC9-05F53C399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21B749-4FC5-EC35-36C4-C69E9CD37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3646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E71FD-A9FC-711B-2B55-D26339E84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8DC01F-CC40-AF93-E655-369854DD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F91DA-F3A9-3EE4-AAF7-F5B707D0A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6093D-8956-FD76-DCE2-9B9AE867A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FFFCD6-221E-B915-0068-791323A40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7329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80218A-46EC-8248-3203-38026ABF1D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208138-6370-A2AC-99B0-91CFB26AA1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439A5-A08A-6528-F0E7-3C5D9D691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71A7A-5713-2214-7674-F9C972D6F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B13C12-8B1F-94BC-3BFC-D0D30ACEB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7693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0682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778BE5-C12F-AB5F-B3E3-279BE47A3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6204DE-3DE4-8E70-6203-CB1C165DF4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427151-A1CC-8E7A-47D8-BE96D2F393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D52F77-0D3B-4F4D-AC78-E22ADE9B6A56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5E0B5-B508-1064-A626-F25F069372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632C1-FB35-0210-B226-1DE2320CA1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3546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  <p:sldLayoutId id="2147483834" r:id="rId7"/>
    <p:sldLayoutId id="2147483835" r:id="rId8"/>
    <p:sldLayoutId id="2147483836" r:id="rId9"/>
    <p:sldLayoutId id="2147483837" r:id="rId10"/>
    <p:sldLayoutId id="2147483838" r:id="rId11"/>
    <p:sldLayoutId id="214748383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6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701036-2DB3-659C-F13E-04A4B5E21065}"/>
              </a:ext>
            </a:extLst>
          </p:cNvPr>
          <p:cNvSpPr txBox="1"/>
          <p:nvPr/>
        </p:nvSpPr>
        <p:spPr>
          <a:xfrm>
            <a:off x="635000" y="104577"/>
            <a:ext cx="10922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2400" b="1" dirty="0" err="1">
                <a:solidFill>
                  <a:srgbClr val="146DFF"/>
                </a:solidFill>
              </a:rPr>
              <a:t>What</a:t>
            </a:r>
            <a:r>
              <a:rPr lang="nb-NO" sz="2400" b="1" dirty="0">
                <a:solidFill>
                  <a:srgbClr val="146DFF"/>
                </a:solidFill>
              </a:rPr>
              <a:t> is </a:t>
            </a:r>
            <a:r>
              <a:rPr lang="nb-NO" sz="2400" b="1" dirty="0" err="1">
                <a:solidFill>
                  <a:srgbClr val="146DFF"/>
                </a:solidFill>
              </a:rPr>
              <a:t>Dapr</a:t>
            </a:r>
            <a:r>
              <a:rPr lang="nb-NO" sz="2400" b="1" dirty="0">
                <a:solidFill>
                  <a:srgbClr val="146DFF"/>
                </a:solidFill>
              </a:rPr>
              <a:t>?</a:t>
            </a:r>
            <a:endParaRPr lang="ru-RU" sz="2400" b="1" dirty="0">
              <a:solidFill>
                <a:srgbClr val="146DFF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62B0A06-604E-1A8E-A548-7C95A1D0883E}"/>
              </a:ext>
            </a:extLst>
          </p:cNvPr>
          <p:cNvCxnSpPr/>
          <p:nvPr/>
        </p:nvCxnSpPr>
        <p:spPr>
          <a:xfrm>
            <a:off x="477970" y="800801"/>
            <a:ext cx="10922000" cy="0"/>
          </a:xfrm>
          <a:prstGeom prst="line">
            <a:avLst/>
          </a:prstGeom>
          <a:ln w="25400">
            <a:solidFill>
              <a:srgbClr val="14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D7ED7B0-21D8-B9B0-B648-FE3E20709C94}"/>
              </a:ext>
            </a:extLst>
          </p:cNvPr>
          <p:cNvSpPr txBox="1"/>
          <p:nvPr/>
        </p:nvSpPr>
        <p:spPr>
          <a:xfrm>
            <a:off x="508000" y="458417"/>
            <a:ext cx="10922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dirty="0">
                <a:solidFill>
                  <a:srgbClr val="646E82"/>
                </a:solidFill>
              </a:rPr>
              <a:t>Distributed Application Runtime  |  CNCF Project  |  </a:t>
            </a:r>
            <a:r>
              <a:rPr lang="en-US" sz="1400" b="1" dirty="0">
                <a:solidFill>
                  <a:srgbClr val="646E82"/>
                </a:solidFill>
              </a:rPr>
              <a:t>dapr.io  </a:t>
            </a:r>
            <a:r>
              <a:rPr lang="en-US" sz="1400" dirty="0">
                <a:solidFill>
                  <a:srgbClr val="646E82"/>
                </a:solidFill>
              </a:rPr>
              <a:t>|  latest </a:t>
            </a:r>
            <a:r>
              <a:rPr lang="en-US" sz="1400" dirty="0" err="1">
                <a:solidFill>
                  <a:srgbClr val="646E82"/>
                </a:solidFill>
              </a:rPr>
              <a:t>Dapr</a:t>
            </a:r>
            <a:r>
              <a:rPr lang="en-US" sz="1400" dirty="0">
                <a:solidFill>
                  <a:srgbClr val="646E82"/>
                </a:solidFill>
              </a:rPr>
              <a:t> v1.17 used in this demo</a:t>
            </a:r>
            <a:endParaRPr lang="ru-RU" sz="1400" dirty="0">
              <a:solidFill>
                <a:srgbClr val="646E8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25780F-369C-8F52-90A9-85E9DCD8E4D0}"/>
              </a:ext>
            </a:extLst>
          </p:cNvPr>
          <p:cNvSpPr txBox="1"/>
          <p:nvPr/>
        </p:nvSpPr>
        <p:spPr>
          <a:xfrm>
            <a:off x="604970" y="835409"/>
            <a:ext cx="10795000" cy="1821011"/>
          </a:xfrm>
          <a:prstGeom prst="rect">
            <a:avLst/>
          </a:prstGeom>
          <a:noFill/>
        </p:spPr>
        <p:txBody>
          <a:bodyPr vert="horz" wrap="square" lIns="76200" tIns="50800" rtlCol="0">
            <a:spAutoFit/>
          </a:bodyPr>
          <a:lstStyle/>
          <a:p>
            <a:r>
              <a:rPr lang="en-US" sz="1400" dirty="0">
                <a:solidFill>
                  <a:srgbClr val="1F5F87"/>
                </a:solidFill>
              </a:rPr>
              <a:t>Why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is a strong software choice</a:t>
            </a:r>
            <a:endParaRPr lang="ru-RU" sz="1400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Mature and trusted</a:t>
            </a:r>
            <a:r>
              <a:rPr lang="en-US" sz="1400" dirty="0">
                <a:solidFill>
                  <a:srgbClr val="1F5F87"/>
                </a:solidFill>
              </a:rPr>
              <a:t> — CNCF Graduated project since 30 Oct 2024, signaling production readiness and stable governance.</a:t>
            </a:r>
            <a:endParaRPr lang="ru-RU" sz="1400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Open standards by default</a:t>
            </a:r>
            <a:r>
              <a:rPr lang="en-US" sz="1400" dirty="0">
                <a:solidFill>
                  <a:srgbClr val="1F5F87"/>
                </a:solidFill>
              </a:rPr>
              <a:t> — uses </a:t>
            </a:r>
            <a:r>
              <a:rPr lang="en-US" sz="1400" dirty="0" err="1">
                <a:solidFill>
                  <a:srgbClr val="1F5F87"/>
                </a:solidFill>
              </a:rPr>
              <a:t>CloudEvents</a:t>
            </a:r>
            <a:r>
              <a:rPr lang="en-US" sz="1400" dirty="0">
                <a:solidFill>
                  <a:srgbClr val="1F5F87"/>
                </a:solidFill>
              </a:rPr>
              <a:t> 1.0 for pub/sub and </a:t>
            </a:r>
            <a:r>
              <a:rPr lang="en-US" sz="1400" dirty="0" err="1">
                <a:solidFill>
                  <a:srgbClr val="1F5F87"/>
                </a:solidFill>
              </a:rPr>
              <a:t>OpenTelemetry</a:t>
            </a:r>
            <a:r>
              <a:rPr lang="en-US" sz="1400" dirty="0">
                <a:solidFill>
                  <a:srgbClr val="1F5F87"/>
                </a:solidFill>
              </a:rPr>
              <a:t> + W3C Trace Context for tracing.</a:t>
            </a:r>
            <a:endParaRPr lang="ru-RU" sz="1400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Portable architecture</a:t>
            </a:r>
            <a:r>
              <a:rPr lang="en-US" sz="1400" dirty="0">
                <a:solidFill>
                  <a:srgbClr val="1F5F87"/>
                </a:solidFill>
              </a:rPr>
              <a:t> — decouples app code from brokers, state stores, and underlying infrastructure.</a:t>
            </a:r>
            <a:endParaRPr lang="ru-RU" sz="1400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Rich building blocks</a:t>
            </a:r>
            <a:r>
              <a:rPr lang="en-US" sz="1400" dirty="0">
                <a:solidFill>
                  <a:srgbClr val="1F5F87"/>
                </a:solidFill>
              </a:rPr>
              <a:t> — covers pub/sub, service invocation, state, actors, workflows, secrets, config, locks, and more.</a:t>
            </a:r>
            <a:endParaRPr lang="ru-RU" sz="1400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Developer productivity</a:t>
            </a:r>
            <a:r>
              <a:rPr lang="en-US" sz="1400" dirty="0">
                <a:solidFill>
                  <a:srgbClr val="1F5F87"/>
                </a:solidFill>
              </a:rPr>
              <a:t> — sidecar APIs reduce boilerplate and keep business code cleaner and more focused.</a:t>
            </a:r>
            <a:endParaRPr lang="ru-RU" sz="1400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Operational resilience and observability</a:t>
            </a:r>
            <a:r>
              <a:rPr lang="en-US" sz="1400" dirty="0">
                <a:solidFill>
                  <a:srgbClr val="1F5F87"/>
                </a:solidFill>
              </a:rPr>
              <a:t> — built around security, resiliency, metrics, logs, and distributed tracing.</a:t>
            </a:r>
            <a:endParaRPr lang="ru-RU" sz="1400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Ecosystem and extensibility</a:t>
            </a:r>
            <a:r>
              <a:rPr lang="en-US" sz="1400" dirty="0">
                <a:solidFill>
                  <a:srgbClr val="1F5F87"/>
                </a:solidFill>
              </a:rPr>
              <a:t> — broad component model makes it easier to integrate different backends without rewriting services.</a:t>
            </a:r>
            <a:endParaRPr lang="ru-RU" sz="1400" dirty="0">
              <a:solidFill>
                <a:srgbClr val="1F5F87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722F00-C65B-C8F0-A666-116D79336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3085" y="2659842"/>
            <a:ext cx="7277476" cy="409358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82909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6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B48D5F-1246-D446-A0AE-8545C0A7A8DB}"/>
              </a:ext>
            </a:extLst>
          </p:cNvPr>
          <p:cNvSpPr txBox="1"/>
          <p:nvPr/>
        </p:nvSpPr>
        <p:spPr>
          <a:xfrm>
            <a:off x="432122" y="655896"/>
            <a:ext cx="10860911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1. Vendor and Broker Portability</a:t>
            </a:r>
          </a:p>
          <a:p>
            <a:pPr>
              <a:buNone/>
            </a:pP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abstracts the underlying message broker behind a consistent API. This allows you to swap brokers (e.g., using Redis Streams for local development and Azure Service Bus for production) by simply changing a configuration file, without altering any application code.</a:t>
            </a:r>
          </a:p>
          <a:p>
            <a:pPr>
              <a:buNone/>
            </a:pPr>
            <a:endParaRPr lang="en-US" sz="1400" dirty="0">
              <a:solidFill>
                <a:srgbClr val="1F5F87"/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2. Standardized delivery methods and communication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1F5F87"/>
                </a:solidFill>
              </a:rPr>
              <a:t>CloudEvents</a:t>
            </a:r>
            <a:r>
              <a:rPr lang="en-US" sz="1400" dirty="0">
                <a:solidFill>
                  <a:srgbClr val="1F5F87"/>
                </a:solidFill>
              </a:rPr>
              <a:t> envelope -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automatically wraps outgoing messages in a standardized format. This ensures consistent metadata and formatting across all services, which simplifies cross-platform integration and event routing.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Push and Pull </a:t>
            </a:r>
            <a:endParaRPr lang="ru-RU" sz="1400" b="1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Ordered delivery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1F5F87"/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3. Built-in Resiliency and Reliability </a:t>
            </a:r>
          </a:p>
          <a:p>
            <a:pPr>
              <a:buNone/>
            </a:pP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provides features that you would otherwise have to implement manually using a direct SDK: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At-least-once delivery</a:t>
            </a:r>
            <a:r>
              <a:rPr lang="en-US" sz="1400" dirty="0">
                <a:solidFill>
                  <a:srgbClr val="1F5F87"/>
                </a:solidFill>
              </a:rPr>
              <a:t>: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guarantees messages reach subscribers even if the application or broker temporarily fails.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Automatic Retries</a:t>
            </a:r>
            <a:r>
              <a:rPr lang="en-US" sz="1400" dirty="0">
                <a:solidFill>
                  <a:srgbClr val="1F5F87"/>
                </a:solidFill>
              </a:rPr>
              <a:t>: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handles retries for failed message deliveries based on configurable policies.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Competing Consumers</a:t>
            </a:r>
            <a:r>
              <a:rPr lang="en-US" sz="1400" dirty="0">
                <a:solidFill>
                  <a:srgbClr val="1F5F87"/>
                </a:solidFill>
              </a:rPr>
              <a:t>: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manages consumer groups and ensures that only one instance of a scaled-out service processes a specific message. 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1F5F87"/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4. Reduced Code Complexity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Smaller SDK footprint</a:t>
            </a:r>
            <a:r>
              <a:rPr lang="en-US" sz="1400" dirty="0">
                <a:solidFill>
                  <a:srgbClr val="1F5F87"/>
                </a:solidFill>
              </a:rPr>
              <a:t>: By using </a:t>
            </a:r>
            <a:r>
              <a:rPr lang="en-US" sz="1400" dirty="0" err="1">
                <a:solidFill>
                  <a:srgbClr val="1F5F87"/>
                </a:solidFill>
              </a:rPr>
              <a:t>Dapr’s</a:t>
            </a:r>
            <a:r>
              <a:rPr lang="en-US" sz="1400" dirty="0">
                <a:solidFill>
                  <a:srgbClr val="1F5F87"/>
                </a:solidFill>
              </a:rPr>
              <a:t> HTTP or </a:t>
            </a:r>
            <a:r>
              <a:rPr lang="en-US" sz="1400" dirty="0" err="1">
                <a:solidFill>
                  <a:srgbClr val="1F5F87"/>
                </a:solidFill>
              </a:rPr>
              <a:t>gRPC</a:t>
            </a:r>
            <a:r>
              <a:rPr lang="en-US" sz="1400" dirty="0">
                <a:solidFill>
                  <a:srgbClr val="1F5F87"/>
                </a:solidFill>
              </a:rPr>
              <a:t> APIs, you avoid importing heavy, broker-specific SDKs into your code.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Simplified Subscriptions</a:t>
            </a:r>
            <a:r>
              <a:rPr lang="en-US" sz="1400" dirty="0">
                <a:solidFill>
                  <a:srgbClr val="1F5F87"/>
                </a:solidFill>
              </a:rPr>
              <a:t>: You can define subscriptions declaratively in YAML files rather than writing code to manage connection strings and listener loops.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Content-Based Routing</a:t>
            </a:r>
            <a:r>
              <a:rPr lang="en-US" sz="1400" dirty="0">
                <a:solidFill>
                  <a:srgbClr val="1F5F87"/>
                </a:solidFill>
              </a:rPr>
              <a:t>: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allows you to route messages to different service endpoints based on the event's content without writing complex branching logic in your application.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1F5F87"/>
              </a:solidFill>
            </a:endParaRPr>
          </a:p>
          <a:p>
            <a:r>
              <a:rPr lang="en-US" sz="1400" b="1" dirty="0">
                <a:solidFill>
                  <a:srgbClr val="1F5F87"/>
                </a:solidFill>
              </a:rPr>
              <a:t>5. Enhanced Observability and Security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Tracing</a:t>
            </a:r>
            <a:r>
              <a:rPr lang="en-US" sz="1400" dirty="0">
                <a:solidFill>
                  <a:srgbClr val="1F5F87"/>
                </a:solidFill>
              </a:rPr>
              <a:t>: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automatically injects trace headers, enabling end-to-end distributed tracing of messages through your entire system.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Scoped Access</a:t>
            </a:r>
            <a:r>
              <a:rPr lang="en-US" sz="1400" dirty="0">
                <a:solidFill>
                  <a:srgbClr val="1F5F87"/>
                </a:solidFill>
              </a:rPr>
              <a:t>: You can use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components to strictly control which applications are permitted to publish or subscribe to specific topics.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374DFB-E430-7CAF-4144-F283F4C24BF0}"/>
              </a:ext>
            </a:extLst>
          </p:cNvPr>
          <p:cNvSpPr txBox="1"/>
          <p:nvPr/>
        </p:nvSpPr>
        <p:spPr>
          <a:xfrm>
            <a:off x="729848" y="65505"/>
            <a:ext cx="10922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400" b="1" dirty="0" err="1">
                <a:solidFill>
                  <a:srgbClr val="146DFF"/>
                </a:solidFill>
              </a:rPr>
              <a:t>Dapr</a:t>
            </a:r>
            <a:r>
              <a:rPr lang="en-US" sz="3400" b="1" dirty="0">
                <a:solidFill>
                  <a:srgbClr val="146DFF"/>
                </a:solidFill>
              </a:rPr>
              <a:t> </a:t>
            </a:r>
            <a:r>
              <a:rPr lang="en-US" sz="2400" b="1" dirty="0">
                <a:solidFill>
                  <a:srgbClr val="146DFF"/>
                </a:solidFill>
              </a:rPr>
              <a:t>Pub/Sub capabilities</a:t>
            </a:r>
            <a:endParaRPr lang="ru-RU" sz="2400" b="1" dirty="0">
              <a:solidFill>
                <a:srgbClr val="146D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0358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6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6">
            <a:extLst>
              <a:ext uri="{FF2B5EF4-FFF2-40B4-BE49-F238E27FC236}">
                <a16:creationId xmlns:a16="http://schemas.microsoft.com/office/drawing/2014/main" id="{14407B64-3C57-BEB2-FB99-8EA04F733672}"/>
              </a:ext>
            </a:extLst>
          </p:cNvPr>
          <p:cNvSpPr/>
          <p:nvPr/>
        </p:nvSpPr>
        <p:spPr>
          <a:xfrm>
            <a:off x="4548051" y="595971"/>
            <a:ext cx="7265126" cy="1393938"/>
          </a:xfrm>
          <a:prstGeom prst="round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chemeClr val="bg2">
                <a:lumMod val="50000"/>
              </a:schemeClr>
            </a:solidFill>
            <a:prstDash val="solid"/>
          </a:ln>
          <a:effectLst>
            <a:outerShdw blurRad="38100" dist="190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C88BA992-D7E1-5960-D32E-F8F9862B46C1}"/>
              </a:ext>
            </a:extLst>
          </p:cNvPr>
          <p:cNvSpPr/>
          <p:nvPr/>
        </p:nvSpPr>
        <p:spPr>
          <a:xfrm>
            <a:off x="298268" y="595971"/>
            <a:ext cx="4125686" cy="1393938"/>
          </a:xfrm>
          <a:prstGeom prst="round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chemeClr val="bg2">
                <a:lumMod val="50000"/>
              </a:schemeClr>
            </a:solidFill>
            <a:prstDash val="solid"/>
          </a:ln>
          <a:effectLst>
            <a:outerShdw blurRad="38100" dist="190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E5CEEF-4B4A-0946-0B90-4DC4BD43E816}"/>
              </a:ext>
            </a:extLst>
          </p:cNvPr>
          <p:cNvSpPr txBox="1"/>
          <p:nvPr/>
        </p:nvSpPr>
        <p:spPr>
          <a:xfrm>
            <a:off x="729848" y="65505"/>
            <a:ext cx="10922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400" b="1" dirty="0" err="1">
                <a:solidFill>
                  <a:srgbClr val="146DFF"/>
                </a:solidFill>
              </a:rPr>
              <a:t>Dapr</a:t>
            </a:r>
            <a:r>
              <a:rPr lang="en-US" sz="2400" b="1" dirty="0">
                <a:solidFill>
                  <a:srgbClr val="146DFF"/>
                </a:solidFill>
              </a:rPr>
              <a:t>-based Stateful Actor for Pub</a:t>
            </a:r>
            <a:r>
              <a:rPr lang="nb-NO" sz="2400" b="1" dirty="0">
                <a:solidFill>
                  <a:srgbClr val="146DFF"/>
                </a:solidFill>
              </a:rPr>
              <a:t>/Sub</a:t>
            </a:r>
            <a:endParaRPr lang="ru-RU" sz="2400" b="1" dirty="0">
              <a:solidFill>
                <a:srgbClr val="146D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212024-5F92-711A-49E6-728C5BFBCEB5}"/>
              </a:ext>
            </a:extLst>
          </p:cNvPr>
          <p:cNvSpPr txBox="1"/>
          <p:nvPr/>
        </p:nvSpPr>
        <p:spPr>
          <a:xfrm>
            <a:off x="513805" y="595971"/>
            <a:ext cx="396675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1F5F87"/>
                </a:solidFill>
              </a:rPr>
              <a:t>The biggest gains are on the subscriber side: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F5F87"/>
                </a:solidFill>
              </a:rPr>
              <a:t>Crash recovery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F5F87"/>
                </a:solidFill>
              </a:rPr>
              <a:t>Controlled ordering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F5F87"/>
                </a:solidFill>
              </a:rPr>
              <a:t>Duplicate tolerance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F5F87"/>
                </a:solidFill>
              </a:rPr>
              <a:t>Checkpointing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67049F-143B-5F3C-3329-DC4E03741C6D}"/>
              </a:ext>
            </a:extLst>
          </p:cNvPr>
          <p:cNvSpPr txBox="1"/>
          <p:nvPr/>
        </p:nvSpPr>
        <p:spPr>
          <a:xfrm>
            <a:off x="4763588" y="74313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1F5F87"/>
                </a:solidFill>
              </a:rPr>
              <a:t>The core idea is this:</a:t>
            </a:r>
          </a:p>
          <a:p>
            <a:pPr>
              <a:buNone/>
            </a:pPr>
            <a:r>
              <a:rPr lang="en-US" sz="1600" dirty="0">
                <a:solidFill>
                  <a:srgbClr val="1F5F87"/>
                </a:solidFill>
              </a:rPr>
              <a:t>A pub/sub broker gets the event to your service, and a stateful actor becomes the durable, identity-based processor for that event.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B67C59-9DAD-F3B8-8F66-451B87F9BC78}"/>
              </a:ext>
            </a:extLst>
          </p:cNvPr>
          <p:cNvSpPr txBox="1"/>
          <p:nvPr/>
        </p:nvSpPr>
        <p:spPr>
          <a:xfrm>
            <a:off x="343989" y="2137071"/>
            <a:ext cx="10994571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1. Crash resiliency</a:t>
            </a:r>
            <a:br>
              <a:rPr lang="en-US" sz="1400" b="1" dirty="0">
                <a:solidFill>
                  <a:srgbClr val="1F5F87"/>
                </a:solidFill>
              </a:rPr>
            </a:b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pub/sub provides at-least-once delivery, so messages may be redelivered if delivery or processing fails.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explicitly says it will retry delivery until successful delivery. </a:t>
            </a:r>
          </a:p>
          <a:p>
            <a:pPr>
              <a:buNone/>
            </a:pPr>
            <a:r>
              <a:rPr lang="en-US" sz="1400" dirty="0">
                <a:solidFill>
                  <a:srgbClr val="1F5F87"/>
                </a:solidFill>
              </a:rPr>
              <a:t>A stateful actor helps because it keeps processing state in a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state store, and that state outlives the in-memory actor instance. </a:t>
            </a:r>
          </a:p>
          <a:p>
            <a:pPr>
              <a:buNone/>
            </a:pPr>
            <a:endParaRPr lang="en-US" sz="1400" dirty="0">
              <a:solidFill>
                <a:srgbClr val="1F5F87"/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2. Safer handling of duplicate delivery</a:t>
            </a:r>
            <a:br>
              <a:rPr lang="en-US" sz="1400" dirty="0">
                <a:solidFill>
                  <a:srgbClr val="1F5F87"/>
                </a:solidFill>
              </a:rPr>
            </a:br>
            <a:r>
              <a:rPr lang="en-US" sz="1400" dirty="0">
                <a:solidFill>
                  <a:srgbClr val="1F5F87"/>
                </a:solidFill>
              </a:rPr>
              <a:t>Because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pub/sub is at-least-once, duplicates are a normal architectural concern. </a:t>
            </a:r>
            <a:br>
              <a:rPr lang="en-US" sz="1400" dirty="0">
                <a:solidFill>
                  <a:srgbClr val="1F5F87"/>
                </a:solidFill>
              </a:rPr>
            </a:br>
            <a:r>
              <a:rPr lang="en-US" sz="1400" dirty="0">
                <a:solidFill>
                  <a:srgbClr val="1F5F87"/>
                </a:solidFill>
              </a:rPr>
              <a:t>A stateful actor can persist: last processed message ID, last processed sequence number, current workflow step </a:t>
            </a:r>
            <a:r>
              <a:rPr lang="en-US" sz="1400" dirty="0" err="1">
                <a:solidFill>
                  <a:srgbClr val="1F5F87"/>
                </a:solidFill>
              </a:rPr>
              <a:t>etc</a:t>
            </a:r>
            <a:endParaRPr lang="en-US" sz="1400" dirty="0">
              <a:solidFill>
                <a:srgbClr val="1F5F87"/>
              </a:solidFill>
            </a:endParaRPr>
          </a:p>
          <a:p>
            <a:pPr>
              <a:buNone/>
            </a:pPr>
            <a:endParaRPr lang="en-US" sz="1400" dirty="0">
              <a:solidFill>
                <a:srgbClr val="1F5F87"/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3. Better ordering per business key</a:t>
            </a:r>
            <a:br>
              <a:rPr lang="en-US" sz="1400" dirty="0">
                <a:solidFill>
                  <a:srgbClr val="1F5F87"/>
                </a:solidFill>
              </a:rPr>
            </a:b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actor runtime uses turn-based concurrency, meaning a single actor processes one request at a time. </a:t>
            </a:r>
          </a:p>
          <a:p>
            <a:pPr>
              <a:buNone/>
            </a:pP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says no more than one thread can be active inside an actor object at any time. </a:t>
            </a:r>
          </a:p>
          <a:p>
            <a:pPr>
              <a:buNone/>
            </a:pPr>
            <a:r>
              <a:rPr lang="en-US" sz="1400" dirty="0">
                <a:solidFill>
                  <a:srgbClr val="1F5F87"/>
                </a:solidFill>
              </a:rPr>
              <a:t>That is useful for pub/sub when events for the same entity must be processed in order. If all events for Order-123 are routed to actor OrderActor-123, that actor naturally serializes processing for that entity.</a:t>
            </a:r>
          </a:p>
          <a:p>
            <a:pPr>
              <a:buNone/>
            </a:pPr>
            <a:endParaRPr lang="en-US" sz="1400" dirty="0">
              <a:solidFill>
                <a:srgbClr val="1F5F87"/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4. Durable checkpointing and progress tracking</a:t>
            </a:r>
          </a:p>
          <a:p>
            <a:pPr>
              <a:buNone/>
            </a:pPr>
            <a:r>
              <a:rPr lang="en-US" sz="1400" dirty="0">
                <a:solidFill>
                  <a:srgbClr val="1F5F87"/>
                </a:solidFill>
              </a:rPr>
              <a:t>Actors may involve ongoing state, such as: current status, retry count, last successful step </a:t>
            </a:r>
            <a:r>
              <a:rPr lang="en-US" sz="1400" dirty="0" err="1">
                <a:solidFill>
                  <a:srgbClr val="1F5F87"/>
                </a:solidFill>
              </a:rPr>
              <a:t>etc</a:t>
            </a:r>
            <a:endParaRPr lang="en-US" sz="1400" dirty="0">
              <a:solidFill>
                <a:srgbClr val="1F5F8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4699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6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E473CE-A71C-843C-8324-264866ED4786}"/>
              </a:ext>
            </a:extLst>
          </p:cNvPr>
          <p:cNvSpPr txBox="1"/>
          <p:nvPr/>
        </p:nvSpPr>
        <p:spPr>
          <a:xfrm>
            <a:off x="729848" y="65505"/>
            <a:ext cx="10922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400" b="1" dirty="0" err="1">
                <a:solidFill>
                  <a:srgbClr val="146DFF"/>
                </a:solidFill>
              </a:rPr>
              <a:t>Dapr</a:t>
            </a:r>
            <a:r>
              <a:rPr lang="en-US" sz="2400" b="1" dirty="0">
                <a:solidFill>
                  <a:srgbClr val="146DFF"/>
                </a:solidFill>
              </a:rPr>
              <a:t> Pub/Sub vs Manual Azure Service Bus SDK</a:t>
            </a:r>
            <a:endParaRPr lang="ru-RU" sz="2400" b="1" dirty="0">
              <a:solidFill>
                <a:srgbClr val="146DFF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32B0C25-F64D-9BD3-731B-C7D9EDB94BBA}"/>
              </a:ext>
            </a:extLst>
          </p:cNvPr>
          <p:cNvCxnSpPr/>
          <p:nvPr/>
        </p:nvCxnSpPr>
        <p:spPr>
          <a:xfrm>
            <a:off x="698500" y="599634"/>
            <a:ext cx="10922000" cy="0"/>
          </a:xfrm>
          <a:prstGeom prst="line">
            <a:avLst/>
          </a:prstGeom>
          <a:ln w="25400">
            <a:solidFill>
              <a:srgbClr val="14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3A9E7A1-B12A-89FA-53DA-FD01F55F2F5E}"/>
              </a:ext>
            </a:extLst>
          </p:cNvPr>
          <p:cNvSpPr txBox="1"/>
          <p:nvPr/>
        </p:nvSpPr>
        <p:spPr>
          <a:xfrm>
            <a:off x="698500" y="1426580"/>
            <a:ext cx="52705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1600" b="1">
                <a:solidFill>
                  <a:srgbClr val="FF961E"/>
                </a:solidFill>
              </a:rPr>
              <a:t>Manual Azure Service Bus SDK</a:t>
            </a:r>
            <a:endParaRPr lang="ru-RU" sz="1600" b="1">
              <a:solidFill>
                <a:srgbClr val="FF961E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1741E5-C2DC-302C-C88F-220E1CA68CD2}"/>
              </a:ext>
            </a:extLst>
          </p:cNvPr>
          <p:cNvSpPr txBox="1"/>
          <p:nvPr/>
        </p:nvSpPr>
        <p:spPr>
          <a:xfrm>
            <a:off x="6096000" y="1426580"/>
            <a:ext cx="53975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nb-NO" sz="1600" b="1" dirty="0" err="1">
                <a:solidFill>
                  <a:srgbClr val="00C878"/>
                </a:solidFill>
              </a:rPr>
              <a:t>Dapr</a:t>
            </a:r>
            <a:r>
              <a:rPr lang="nb-NO" sz="1600" b="1" dirty="0">
                <a:solidFill>
                  <a:srgbClr val="00C878"/>
                </a:solidFill>
              </a:rPr>
              <a:t> Pub/Sub</a:t>
            </a:r>
            <a:endParaRPr lang="ru-RU" sz="1600" b="1" dirty="0">
              <a:solidFill>
                <a:srgbClr val="00C878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9ECEB9-E1CD-44CC-9E0B-95DCD84D853E}"/>
              </a:ext>
            </a:extLst>
          </p:cNvPr>
          <p:cNvSpPr txBox="1"/>
          <p:nvPr/>
        </p:nvSpPr>
        <p:spPr>
          <a:xfrm>
            <a:off x="634999" y="1971479"/>
            <a:ext cx="10922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600" b="1" dirty="0">
                <a:solidFill>
                  <a:schemeClr val="bg2"/>
                </a:solidFill>
              </a:rPr>
              <a:t>♦ Connection management</a:t>
            </a:r>
            <a:endParaRPr lang="ru-RU" sz="1600" b="1" dirty="0">
              <a:solidFill>
                <a:schemeClr val="bg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2F47F8-A445-9FB2-3168-5CAC0F62A8DD}"/>
              </a:ext>
            </a:extLst>
          </p:cNvPr>
          <p:cNvSpPr txBox="1"/>
          <p:nvPr/>
        </p:nvSpPr>
        <p:spPr>
          <a:xfrm>
            <a:off x="413152" y="2269245"/>
            <a:ext cx="5555848" cy="307777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en-US" sz="1400" dirty="0" err="1">
                <a:solidFill>
                  <a:srgbClr val="FFC88C"/>
                </a:solidFill>
              </a:rPr>
              <a:t>ServiceBusClient</a:t>
            </a:r>
            <a:r>
              <a:rPr lang="en-US" sz="1400" dirty="0">
                <a:solidFill>
                  <a:srgbClr val="FFC88C"/>
                </a:solidFill>
              </a:rPr>
              <a:t> + senders / receivers — connection lifecycle in app code</a:t>
            </a:r>
            <a:endParaRPr lang="ru-RU" sz="1400" dirty="0">
              <a:solidFill>
                <a:srgbClr val="FFC88C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5E79CC-FE6E-CDB3-D6F6-3EA324D5E293}"/>
              </a:ext>
            </a:extLst>
          </p:cNvPr>
          <p:cNvSpPr txBox="1"/>
          <p:nvPr/>
        </p:nvSpPr>
        <p:spPr>
          <a:xfrm>
            <a:off x="6096000" y="2269245"/>
            <a:ext cx="5682848" cy="307777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en-US" sz="1400" dirty="0">
                <a:solidFill>
                  <a:srgbClr val="8CFFBE"/>
                </a:solidFill>
              </a:rPr>
              <a:t>Zero lines — </a:t>
            </a:r>
            <a:r>
              <a:rPr lang="en-US" sz="1400" dirty="0" err="1">
                <a:solidFill>
                  <a:srgbClr val="8CFFBE"/>
                </a:solidFill>
              </a:rPr>
              <a:t>Dapr</a:t>
            </a:r>
            <a:r>
              <a:rPr lang="en-US" sz="1400" dirty="0">
                <a:solidFill>
                  <a:srgbClr val="8CFFBE"/>
                </a:solidFill>
              </a:rPr>
              <a:t> sidecar owns the connection entirely</a:t>
            </a:r>
            <a:endParaRPr lang="ru-RU" sz="1400" dirty="0">
              <a:solidFill>
                <a:srgbClr val="8CFFBE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1F796-EEFE-6A24-F6B3-BA62A5228F79}"/>
              </a:ext>
            </a:extLst>
          </p:cNvPr>
          <p:cNvSpPr txBox="1"/>
          <p:nvPr/>
        </p:nvSpPr>
        <p:spPr>
          <a:xfrm>
            <a:off x="666254" y="2899950"/>
            <a:ext cx="10922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ru-RU"/>
            </a:defPPr>
            <a:lvl1pPr>
              <a:defRPr sz="1400" b="1">
                <a:solidFill>
                  <a:schemeClr val="bg2"/>
                </a:solidFill>
              </a:defRPr>
            </a:lvl1pPr>
          </a:lstStyle>
          <a:p>
            <a:r>
              <a:rPr lang="nb-NO" sz="1600" dirty="0"/>
              <a:t>♦ Broker </a:t>
            </a:r>
            <a:r>
              <a:rPr lang="nb-NO" sz="1600" dirty="0" err="1"/>
              <a:t>coupling</a:t>
            </a:r>
            <a:endParaRPr lang="ru-RU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AE6DBB-3C03-03CB-7AF7-8761A1C67937}"/>
              </a:ext>
            </a:extLst>
          </p:cNvPr>
          <p:cNvSpPr txBox="1"/>
          <p:nvPr/>
        </p:nvSpPr>
        <p:spPr>
          <a:xfrm>
            <a:off x="380906" y="3222828"/>
            <a:ext cx="5555848" cy="523220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en-US" sz="1400" dirty="0" err="1">
                <a:solidFill>
                  <a:srgbClr val="FFC88C"/>
                </a:solidFill>
              </a:rPr>
              <a:t>Azure.Messaging.ServiceBus</a:t>
            </a:r>
            <a:r>
              <a:rPr lang="en-US" sz="1400" dirty="0">
                <a:solidFill>
                  <a:srgbClr val="FFC88C"/>
                </a:solidFill>
              </a:rPr>
              <a:t> locks you to ASB; broker change means a rewrite</a:t>
            </a:r>
            <a:endParaRPr lang="ru-RU" sz="1400" dirty="0">
              <a:solidFill>
                <a:srgbClr val="FFC88C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A7DE02-89C7-6CFA-EEE7-627FFEE70671}"/>
              </a:ext>
            </a:extLst>
          </p:cNvPr>
          <p:cNvSpPr txBox="1"/>
          <p:nvPr/>
        </p:nvSpPr>
        <p:spPr>
          <a:xfrm>
            <a:off x="6063753" y="3222828"/>
            <a:ext cx="5715095" cy="523220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nb-NO" sz="1400" dirty="0">
                <a:solidFill>
                  <a:srgbClr val="8CFFBE"/>
                </a:solidFill>
              </a:rPr>
              <a:t>YAML component swap — RabbitMQ, Kafka, Redis Streams; app code unchanged</a:t>
            </a:r>
            <a:endParaRPr lang="ru-RU" sz="1400" dirty="0">
              <a:solidFill>
                <a:srgbClr val="8CFFBE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10F752-2EE7-B03A-5188-672569ADB767}"/>
              </a:ext>
            </a:extLst>
          </p:cNvPr>
          <p:cNvSpPr txBox="1"/>
          <p:nvPr/>
        </p:nvSpPr>
        <p:spPr>
          <a:xfrm>
            <a:off x="698500" y="3880827"/>
            <a:ext cx="10922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600" b="1" dirty="0">
                <a:solidFill>
                  <a:schemeClr val="bg2"/>
                </a:solidFill>
              </a:rPr>
              <a:t>♦ </a:t>
            </a:r>
            <a:r>
              <a:rPr lang="nb-NO" sz="1600" b="1" dirty="0" err="1">
                <a:solidFill>
                  <a:schemeClr val="bg2"/>
                </a:solidFill>
              </a:rPr>
              <a:t>Resiliency</a:t>
            </a:r>
            <a:endParaRPr lang="ru-RU" sz="1600" b="1" dirty="0">
              <a:solidFill>
                <a:schemeClr val="bg2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4168B0-87F7-B101-A810-51A315D1B94F}"/>
              </a:ext>
            </a:extLst>
          </p:cNvPr>
          <p:cNvSpPr txBox="1"/>
          <p:nvPr/>
        </p:nvSpPr>
        <p:spPr>
          <a:xfrm>
            <a:off x="413152" y="4188604"/>
            <a:ext cx="5555848" cy="307777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en-US" sz="1400" dirty="0">
                <a:solidFill>
                  <a:srgbClr val="FFC88C"/>
                </a:solidFill>
              </a:rPr>
              <a:t>Try/catch loops, manual retry policies, dead-letter wiring in every service</a:t>
            </a:r>
            <a:endParaRPr lang="ru-RU" sz="1400" dirty="0">
              <a:solidFill>
                <a:srgbClr val="FFC88C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6AEBE7-32B1-212C-1812-88DC2F172995}"/>
              </a:ext>
            </a:extLst>
          </p:cNvPr>
          <p:cNvSpPr txBox="1"/>
          <p:nvPr/>
        </p:nvSpPr>
        <p:spPr>
          <a:xfrm>
            <a:off x="6095999" y="4188604"/>
            <a:ext cx="5715095" cy="307777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8CFFBE"/>
                </a:solidFill>
              </a:rPr>
              <a:t>Retries, timeouts, circuit breakers in resiliency.yaml — no code at all</a:t>
            </a:r>
            <a:endParaRPr lang="ru-RU" sz="1400">
              <a:solidFill>
                <a:srgbClr val="8CFFBE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2C0FC4-6A7D-493D-97AC-970E2FC2ADE8}"/>
              </a:ext>
            </a:extLst>
          </p:cNvPr>
          <p:cNvSpPr txBox="1"/>
          <p:nvPr/>
        </p:nvSpPr>
        <p:spPr>
          <a:xfrm>
            <a:off x="666254" y="4723492"/>
            <a:ext cx="10922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600" b="1" dirty="0">
                <a:solidFill>
                  <a:schemeClr val="bg2"/>
                </a:solidFill>
              </a:rPr>
              <a:t>♦ </a:t>
            </a:r>
            <a:r>
              <a:rPr lang="nb-NO" sz="1600" b="1" dirty="0" err="1">
                <a:solidFill>
                  <a:schemeClr val="bg2"/>
                </a:solidFill>
              </a:rPr>
              <a:t>Observability</a:t>
            </a:r>
            <a:endParaRPr lang="ru-RU" sz="1600" b="1" dirty="0">
              <a:solidFill>
                <a:schemeClr val="bg2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9D297A-2D4F-8916-C070-38FEB0AE9AC2}"/>
              </a:ext>
            </a:extLst>
          </p:cNvPr>
          <p:cNvSpPr txBox="1"/>
          <p:nvPr/>
        </p:nvSpPr>
        <p:spPr>
          <a:xfrm>
            <a:off x="380906" y="5031269"/>
            <a:ext cx="5555848" cy="523220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en-US" sz="1400" dirty="0">
                <a:solidFill>
                  <a:srgbClr val="FFC88C"/>
                </a:solidFill>
              </a:rPr>
              <a:t>Manual correlation-ID threading; custom logging and metrics wiring per service</a:t>
            </a:r>
            <a:endParaRPr lang="ru-RU" sz="1400" dirty="0">
              <a:solidFill>
                <a:srgbClr val="FFC88C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04E0EB-6C72-20A0-DF35-5220E9D40204}"/>
              </a:ext>
            </a:extLst>
          </p:cNvPr>
          <p:cNvSpPr txBox="1"/>
          <p:nvPr/>
        </p:nvSpPr>
        <p:spPr>
          <a:xfrm>
            <a:off x="6063753" y="5031269"/>
            <a:ext cx="5715095" cy="307777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en-US" sz="1400" dirty="0">
                <a:solidFill>
                  <a:srgbClr val="8CFFBE"/>
                </a:solidFill>
              </a:rPr>
              <a:t>W3C trace context propagated automatically; </a:t>
            </a:r>
            <a:r>
              <a:rPr lang="en-US" sz="1400" dirty="0" err="1">
                <a:solidFill>
                  <a:srgbClr val="8CFFBE"/>
                </a:solidFill>
              </a:rPr>
              <a:t>OpenTelemetry</a:t>
            </a:r>
            <a:r>
              <a:rPr lang="en-US" sz="1400" dirty="0">
                <a:solidFill>
                  <a:srgbClr val="8CFFBE"/>
                </a:solidFill>
              </a:rPr>
              <a:t> export built in</a:t>
            </a:r>
            <a:endParaRPr lang="ru-RU" sz="1400" dirty="0">
              <a:solidFill>
                <a:srgbClr val="8CFFBE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BB1A3D-0B32-2F9E-EDC1-DA539EC5CB4E}"/>
              </a:ext>
            </a:extLst>
          </p:cNvPr>
          <p:cNvSpPr txBox="1"/>
          <p:nvPr/>
        </p:nvSpPr>
        <p:spPr>
          <a:xfrm>
            <a:off x="635388" y="5642812"/>
            <a:ext cx="10922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600" b="1" dirty="0">
                <a:solidFill>
                  <a:schemeClr val="bg2"/>
                </a:solidFill>
              </a:rPr>
              <a:t>♦ </a:t>
            </a:r>
            <a:r>
              <a:rPr lang="nb-NO" sz="1600" b="1" dirty="0" err="1">
                <a:solidFill>
                  <a:schemeClr val="bg2"/>
                </a:solidFill>
              </a:rPr>
              <a:t>Failover</a:t>
            </a:r>
            <a:endParaRPr lang="ru-RU" sz="1600" b="1" dirty="0">
              <a:solidFill>
                <a:schemeClr val="bg2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544CBE-DB6E-4076-E640-0F91949657CD}"/>
              </a:ext>
            </a:extLst>
          </p:cNvPr>
          <p:cNvSpPr txBox="1"/>
          <p:nvPr/>
        </p:nvSpPr>
        <p:spPr>
          <a:xfrm>
            <a:off x="380906" y="5950589"/>
            <a:ext cx="5555848" cy="307777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en-US" sz="1400" dirty="0">
                <a:solidFill>
                  <a:srgbClr val="FFC88C"/>
                </a:solidFill>
              </a:rPr>
              <a:t>Manual custom implementation.</a:t>
            </a:r>
            <a:endParaRPr lang="ru-RU" sz="1400" dirty="0">
              <a:solidFill>
                <a:srgbClr val="FFC88C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7F2307-356C-9570-B7F0-2F346C5442E8}"/>
              </a:ext>
            </a:extLst>
          </p:cNvPr>
          <p:cNvSpPr txBox="1"/>
          <p:nvPr/>
        </p:nvSpPr>
        <p:spPr>
          <a:xfrm>
            <a:off x="6063753" y="5950589"/>
            <a:ext cx="5715095" cy="307777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en-US" sz="1400" dirty="0">
                <a:solidFill>
                  <a:srgbClr val="8CFFBE"/>
                </a:solidFill>
              </a:rPr>
              <a:t>Stateful actors support</a:t>
            </a:r>
            <a:endParaRPr lang="ru-RU" sz="1400" dirty="0">
              <a:solidFill>
                <a:srgbClr val="8CFFB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54356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6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A9CF5D7B-2512-51FE-EF59-B5F7B2AC011D}"/>
              </a:ext>
            </a:extLst>
          </p:cNvPr>
          <p:cNvSpPr/>
          <p:nvPr/>
        </p:nvSpPr>
        <p:spPr>
          <a:xfrm>
            <a:off x="1508400" y="1059981"/>
            <a:ext cx="2565036" cy="145904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3CA048F-77D8-E907-E210-CCB7F5F36CB5}"/>
              </a:ext>
            </a:extLst>
          </p:cNvPr>
          <p:cNvSpPr/>
          <p:nvPr/>
        </p:nvSpPr>
        <p:spPr>
          <a:xfrm>
            <a:off x="1724297" y="2684133"/>
            <a:ext cx="5199015" cy="145904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7819B8-84E8-F375-4D61-03C2E7774BF0}"/>
              </a:ext>
            </a:extLst>
          </p:cNvPr>
          <p:cNvSpPr txBox="1"/>
          <p:nvPr/>
        </p:nvSpPr>
        <p:spPr>
          <a:xfrm>
            <a:off x="556623" y="133533"/>
            <a:ext cx="10922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400" b="1" dirty="0">
                <a:solidFill>
                  <a:srgbClr val="146DFF"/>
                </a:solidFill>
              </a:rPr>
              <a:t>This Demo: Pull Delivery in Practice</a:t>
            </a:r>
            <a:endParaRPr lang="ru-RU" sz="3400" b="1" dirty="0">
              <a:solidFill>
                <a:srgbClr val="146DFF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5811545-505C-1DB9-B7AF-B8586A047FA9}"/>
              </a:ext>
            </a:extLst>
          </p:cNvPr>
          <p:cNvCxnSpPr/>
          <p:nvPr/>
        </p:nvCxnSpPr>
        <p:spPr>
          <a:xfrm>
            <a:off x="556623" y="845457"/>
            <a:ext cx="10922000" cy="0"/>
          </a:xfrm>
          <a:prstGeom prst="line">
            <a:avLst/>
          </a:prstGeom>
          <a:ln w="25400">
            <a:solidFill>
              <a:srgbClr val="14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6BB414B9-CAF8-18A9-94F2-5FE14E082037}"/>
              </a:ext>
            </a:extLst>
          </p:cNvPr>
          <p:cNvSpPr/>
          <p:nvPr/>
        </p:nvSpPr>
        <p:spPr>
          <a:xfrm>
            <a:off x="1898468" y="1303094"/>
            <a:ext cx="1811746" cy="101600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r>
              <a:rPr lang="nb-NO" sz="1200" b="1" dirty="0">
                <a:solidFill>
                  <a:srgbClr val="FFFFFF"/>
                </a:solidFill>
              </a:rPr>
              <a:t>Publisher </a:t>
            </a:r>
            <a:r>
              <a:rPr lang="nb-NO" sz="1200" b="1" dirty="0" err="1">
                <a:solidFill>
                  <a:srgbClr val="FFFFFF"/>
                </a:solidFill>
              </a:rPr>
              <a:t>Worker</a:t>
            </a:r>
            <a:endParaRPr lang="nb-NO" sz="1200" b="1" dirty="0">
              <a:solidFill>
                <a:srgbClr val="FFFFFF"/>
              </a:solidFill>
            </a:endParaRPr>
          </a:p>
          <a:p>
            <a:r>
              <a:rPr lang="en-US" sz="1100" dirty="0">
                <a:solidFill>
                  <a:srgbClr val="DCE1EB"/>
                </a:solidFill>
              </a:rPr>
              <a:t>.NET Worker Service
publishes every 5 s</a:t>
            </a:r>
            <a:endParaRPr lang="ru-RU" sz="1100" dirty="0">
              <a:solidFill>
                <a:srgbClr val="DCE1EB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0CE21BA-7583-C2F3-0253-8DDF3F087960}"/>
              </a:ext>
            </a:extLst>
          </p:cNvPr>
          <p:cNvCxnSpPr/>
          <p:nvPr/>
        </p:nvCxnSpPr>
        <p:spPr>
          <a:xfrm>
            <a:off x="3722914" y="1811094"/>
            <a:ext cx="635000" cy="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2BD55DDE-C67A-34FF-2A68-2BC043C8A48D}"/>
              </a:ext>
            </a:extLst>
          </p:cNvPr>
          <p:cNvSpPr/>
          <p:nvPr/>
        </p:nvSpPr>
        <p:spPr>
          <a:xfrm>
            <a:off x="4357914" y="1303094"/>
            <a:ext cx="2349500" cy="101600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r>
              <a:rPr lang="nb-NO" sz="1200" b="1" dirty="0" err="1">
                <a:solidFill>
                  <a:srgbClr val="FFFFFF"/>
                </a:solidFill>
              </a:rPr>
              <a:t>Dapr</a:t>
            </a:r>
            <a:r>
              <a:rPr lang="nb-NO" sz="1200" b="1" dirty="0">
                <a:solidFill>
                  <a:srgbClr val="FFFFFF"/>
                </a:solidFill>
              </a:rPr>
              <a:t> </a:t>
            </a:r>
            <a:r>
              <a:rPr lang="nb-NO" sz="1200" b="1" dirty="0" err="1">
                <a:solidFill>
                  <a:srgbClr val="FFFFFF"/>
                </a:solidFill>
              </a:rPr>
              <a:t>Sidecar</a:t>
            </a:r>
            <a:r>
              <a:rPr lang="nb-NO" sz="1200" b="1" dirty="0">
                <a:solidFill>
                  <a:srgbClr val="FFFFFF"/>
                </a:solidFill>
              </a:rPr>
              <a:t> (pub)</a:t>
            </a:r>
          </a:p>
          <a:p>
            <a:r>
              <a:rPr lang="en-US" sz="1000" dirty="0">
                <a:solidFill>
                  <a:srgbClr val="DCE1EB"/>
                </a:solidFill>
              </a:rPr>
              <a:t>pub-app-id : 3500
attaches </a:t>
            </a:r>
            <a:r>
              <a:rPr lang="en-US" sz="1000" dirty="0" err="1">
                <a:solidFill>
                  <a:srgbClr val="DCE1EB"/>
                </a:solidFill>
              </a:rPr>
              <a:t>SessionId</a:t>
            </a:r>
            <a:r>
              <a:rPr lang="en-US" sz="1000" dirty="0">
                <a:solidFill>
                  <a:srgbClr val="DCE1EB"/>
                </a:solidFill>
              </a:rPr>
              <a:t>=session1</a:t>
            </a:r>
            <a:endParaRPr lang="ru-RU" sz="1000" dirty="0">
              <a:solidFill>
                <a:srgbClr val="DCE1EB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4BDDB76-4D41-7A8E-A77A-1F0BD835DBFA}"/>
              </a:ext>
            </a:extLst>
          </p:cNvPr>
          <p:cNvCxnSpPr/>
          <p:nvPr/>
        </p:nvCxnSpPr>
        <p:spPr>
          <a:xfrm>
            <a:off x="6720114" y="1811094"/>
            <a:ext cx="635000" cy="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BE84F4-284A-4256-5ABA-6E30F3D51ADE}"/>
              </a:ext>
            </a:extLst>
          </p:cNvPr>
          <p:cNvSpPr/>
          <p:nvPr/>
        </p:nvSpPr>
        <p:spPr>
          <a:xfrm>
            <a:off x="7355114" y="1303094"/>
            <a:ext cx="2646678" cy="101600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</a:rPr>
              <a:t>Service Bus
</a:t>
            </a:r>
            <a:r>
              <a:rPr sz="1100" dirty="0">
                <a:solidFill>
                  <a:srgbClr val="FFFFFF"/>
                </a:solidFill>
              </a:rPr>
              <a:t>topic1 / subscription1
buffers messages for subscribers</a:t>
            </a:r>
            <a:endParaRPr sz="1200" dirty="0">
              <a:solidFill>
                <a:srgbClr val="FFFFFF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01AE26-CD10-DCE7-EC56-5D206C07DC22}"/>
              </a:ext>
            </a:extLst>
          </p:cNvPr>
          <p:cNvCxnSpPr/>
          <p:nvPr/>
        </p:nvCxnSpPr>
        <p:spPr>
          <a:xfrm>
            <a:off x="9628414" y="2319094"/>
            <a:ext cx="0" cy="66040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E743FAAB-AFE7-6890-FF4C-A88E3B71106E}"/>
              </a:ext>
            </a:extLst>
          </p:cNvPr>
          <p:cNvSpPr/>
          <p:nvPr/>
        </p:nvSpPr>
        <p:spPr>
          <a:xfrm>
            <a:off x="7355114" y="2979494"/>
            <a:ext cx="2677160" cy="101600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r>
              <a:rPr sz="1200" b="1" dirty="0" err="1">
                <a:solidFill>
                  <a:srgbClr val="FFFFFF"/>
                </a:solidFill>
              </a:rPr>
              <a:t>Dapr</a:t>
            </a:r>
            <a:r>
              <a:rPr sz="1200" b="1" dirty="0">
                <a:solidFill>
                  <a:srgbClr val="FFFFFF"/>
                </a:solidFill>
              </a:rPr>
              <a:t> Sidecar (sub)
</a:t>
            </a:r>
            <a:r>
              <a:rPr sz="1100" dirty="0">
                <a:solidFill>
                  <a:srgbClr val="FFFFFF"/>
                </a:solidFill>
              </a:rPr>
              <a:t>sub-app-id : 3501
pulls from broker and exposes stream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79482C-6623-40A0-5300-8AED8E35DC82}"/>
              </a:ext>
            </a:extLst>
          </p:cNvPr>
          <p:cNvSpPr/>
          <p:nvPr/>
        </p:nvSpPr>
        <p:spPr>
          <a:xfrm>
            <a:off x="4357914" y="2979494"/>
            <a:ext cx="2349500" cy="101600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r>
              <a:rPr sz="1200" b="1" dirty="0">
                <a:solidFill>
                  <a:srgbClr val="FFFFFF"/>
                </a:solidFill>
              </a:rPr>
              <a:t>Streaming subscription
</a:t>
            </a:r>
            <a:r>
              <a:rPr sz="1100" dirty="0" err="1">
                <a:solidFill>
                  <a:srgbClr val="FFFFFF"/>
                </a:solidFill>
              </a:rPr>
              <a:t>Dapr</a:t>
            </a:r>
            <a:r>
              <a:rPr sz="1100" dirty="0">
                <a:solidFill>
                  <a:srgbClr val="FFFFFF"/>
                </a:solidFill>
              </a:rPr>
              <a:t> .NET Messaging SDK
app pulls next message when ready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FD30E2-A889-F6F7-F200-E8AF4E7CF87D}"/>
              </a:ext>
            </a:extLst>
          </p:cNvPr>
          <p:cNvSpPr/>
          <p:nvPr/>
        </p:nvSpPr>
        <p:spPr>
          <a:xfrm>
            <a:off x="1898468" y="2979494"/>
            <a:ext cx="1811746" cy="101600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r>
              <a:rPr sz="1200" b="1" dirty="0">
                <a:solidFill>
                  <a:srgbClr val="FFFFFF"/>
                </a:solidFill>
              </a:rPr>
              <a:t>Subscriber </a:t>
            </a:r>
            <a:r>
              <a:rPr lang="en-US" sz="1200" b="1" dirty="0" err="1">
                <a:solidFill>
                  <a:srgbClr val="FFFFFF"/>
                </a:solidFill>
              </a:rPr>
              <a:t>Dapr</a:t>
            </a:r>
            <a:r>
              <a:rPr lang="en-US" sz="1200" b="1" dirty="0">
                <a:solidFill>
                  <a:srgbClr val="FFFFFF"/>
                </a:solidFill>
              </a:rPr>
              <a:t> Actor</a:t>
            </a:r>
            <a:r>
              <a:rPr sz="1200" b="1" dirty="0">
                <a:solidFill>
                  <a:srgbClr val="FFFFFF"/>
                </a:solidFill>
              </a:rPr>
              <a:t>
</a:t>
            </a:r>
            <a:r>
              <a:rPr lang="en-US" sz="1100" dirty="0" err="1">
                <a:solidFill>
                  <a:srgbClr val="FFFFFF"/>
                </a:solidFill>
              </a:rPr>
              <a:t>Dapr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sz="1100" dirty="0">
                <a:solidFill>
                  <a:srgbClr val="FFFFFF"/>
                </a:solidFill>
              </a:rPr>
              <a:t>.NET </a:t>
            </a:r>
            <a:r>
              <a:rPr lang="en-US" sz="1100" dirty="0">
                <a:solidFill>
                  <a:srgbClr val="FFFFFF"/>
                </a:solidFill>
              </a:rPr>
              <a:t>stateful </a:t>
            </a:r>
            <a:r>
              <a:rPr lang="nb-NO" sz="1100" dirty="0" err="1">
                <a:solidFill>
                  <a:srgbClr val="FFFFFF"/>
                </a:solidFill>
              </a:rPr>
              <a:t>Actor</a:t>
            </a:r>
            <a:r>
              <a:rPr sz="1100" dirty="0">
                <a:solidFill>
                  <a:srgbClr val="FFFFFF"/>
                </a:solidFill>
              </a:rPr>
              <a:t>
business handler processes messages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4307C8-4AA5-CF9B-8BEC-D8201A857075}"/>
              </a:ext>
            </a:extLst>
          </p:cNvPr>
          <p:cNvSpPr txBox="1"/>
          <p:nvPr/>
        </p:nvSpPr>
        <p:spPr>
          <a:xfrm>
            <a:off x="660400" y="4927600"/>
            <a:ext cx="10922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400" b="1" dirty="0">
                <a:solidFill>
                  <a:schemeClr val="accent1"/>
                </a:solidFill>
              </a:rPr>
              <a:t>Key features from Dapr:</a:t>
            </a:r>
            <a:endParaRPr lang="ru-RU" sz="1400" b="1" dirty="0">
              <a:solidFill>
                <a:schemeClr val="accent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C93CB8-8347-EA86-AF5A-913E36D05A6C}"/>
              </a:ext>
            </a:extLst>
          </p:cNvPr>
          <p:cNvSpPr txBox="1"/>
          <p:nvPr/>
        </p:nvSpPr>
        <p:spPr>
          <a:xfrm>
            <a:off x="825500" y="5257800"/>
            <a:ext cx="10858500" cy="300082"/>
          </a:xfrm>
          <a:prstGeom prst="rect">
            <a:avLst/>
          </a:prstGeom>
          <a:noFill/>
        </p:spPr>
        <p:txBody>
          <a:bodyPr vert="horz" wrap="square" tIns="38100" rtlCol="0">
            <a:spAutoFit/>
          </a:bodyPr>
          <a:lstStyle/>
          <a:p>
            <a:r>
              <a:rPr sz="1400" b="1" dirty="0">
                <a:solidFill>
                  <a:srgbClr val="1F5F87"/>
                </a:solidFill>
              </a:rPr>
              <a:t>✔  Pull delivery:  </a:t>
            </a:r>
            <a:r>
              <a:rPr sz="1400" dirty="0">
                <a:solidFill>
                  <a:srgbClr val="1F5F87"/>
                </a:solidFill>
              </a:rPr>
              <a:t>streaming subscriptions let the app receive messages without an HTTP callback endpoint</a:t>
            </a:r>
            <a:endParaRPr lang="ru-RU" sz="1400" dirty="0">
              <a:solidFill>
                <a:schemeClr val="accent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D83418-D03D-82F3-4E53-3EEE21D2D25D}"/>
              </a:ext>
            </a:extLst>
          </p:cNvPr>
          <p:cNvSpPr txBox="1"/>
          <p:nvPr/>
        </p:nvSpPr>
        <p:spPr>
          <a:xfrm>
            <a:off x="825500" y="5547254"/>
            <a:ext cx="10858500" cy="300082"/>
          </a:xfrm>
          <a:prstGeom prst="rect">
            <a:avLst/>
          </a:prstGeom>
          <a:noFill/>
        </p:spPr>
        <p:txBody>
          <a:bodyPr vert="horz" wrap="square" tIns="38100" rtlCol="0">
            <a:spAutoFit/>
          </a:bodyPr>
          <a:lstStyle/>
          <a:p>
            <a:r>
              <a:rPr sz="1400" b="1" dirty="0">
                <a:solidFill>
                  <a:srgbClr val="1F5F87"/>
                </a:solidFill>
              </a:rPr>
              <a:t>✔  Back-pressure control:  </a:t>
            </a:r>
            <a:r>
              <a:rPr sz="1400" dirty="0">
                <a:solidFill>
                  <a:srgbClr val="1F5F87"/>
                </a:solidFill>
              </a:rPr>
              <a:t>the subscriber requests work when ready instead of being pushed messages by </a:t>
            </a:r>
            <a:r>
              <a:rPr sz="1400" dirty="0" err="1">
                <a:solidFill>
                  <a:srgbClr val="1F5F87"/>
                </a:solidFill>
              </a:rPr>
              <a:t>Dapr</a:t>
            </a:r>
            <a:endParaRPr lang="ru-RU" sz="1400" dirty="0">
              <a:solidFill>
                <a:schemeClr val="accent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6D81C4-279A-0CE2-CDE1-B590E5274252}"/>
              </a:ext>
            </a:extLst>
          </p:cNvPr>
          <p:cNvSpPr txBox="1"/>
          <p:nvPr/>
        </p:nvSpPr>
        <p:spPr>
          <a:xfrm>
            <a:off x="831668" y="5841474"/>
            <a:ext cx="10858500" cy="300082"/>
          </a:xfrm>
          <a:prstGeom prst="rect">
            <a:avLst/>
          </a:prstGeom>
          <a:noFill/>
        </p:spPr>
        <p:txBody>
          <a:bodyPr vert="horz" wrap="square" tIns="38100" rtlCol="0">
            <a:spAutoFit/>
          </a:bodyPr>
          <a:lstStyle/>
          <a:p>
            <a:r>
              <a:rPr sz="1400" b="1" dirty="0">
                <a:solidFill>
                  <a:srgbClr val="1F5F87"/>
                </a:solidFill>
              </a:rPr>
              <a:t>✔  Broker portability:  </a:t>
            </a:r>
            <a:r>
              <a:rPr sz="1400" dirty="0">
                <a:solidFill>
                  <a:srgbClr val="1F5F87"/>
                </a:solidFill>
              </a:rPr>
              <a:t>no broker SDK in app code; switch brokers by updating the component YAML</a:t>
            </a:r>
            <a:endParaRPr lang="ru-RU" sz="1400" dirty="0">
              <a:solidFill>
                <a:schemeClr val="accent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97447F-F551-A3D0-9696-25426AE82610}"/>
              </a:ext>
            </a:extLst>
          </p:cNvPr>
          <p:cNvCxnSpPr/>
          <p:nvPr/>
        </p:nvCxnSpPr>
        <p:spPr>
          <a:xfrm>
            <a:off x="6720114" y="3480962"/>
            <a:ext cx="635000" cy="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9BF79E6-0A98-E154-85B6-ED1553DD4BDA}"/>
              </a:ext>
            </a:extLst>
          </p:cNvPr>
          <p:cNvCxnSpPr>
            <a:cxnSpLocks/>
          </p:cNvCxnSpPr>
          <p:nvPr/>
        </p:nvCxnSpPr>
        <p:spPr>
          <a:xfrm flipH="1">
            <a:off x="3710214" y="3480962"/>
            <a:ext cx="619760" cy="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lowchart: Magnetic Disk 21">
            <a:extLst>
              <a:ext uri="{FF2B5EF4-FFF2-40B4-BE49-F238E27FC236}">
                <a16:creationId xmlns:a16="http://schemas.microsoft.com/office/drawing/2014/main" id="{5F224CD9-1872-7CF9-94AC-43C3C7117ADE}"/>
              </a:ext>
            </a:extLst>
          </p:cNvPr>
          <p:cNvSpPr/>
          <p:nvPr/>
        </p:nvSpPr>
        <p:spPr>
          <a:xfrm>
            <a:off x="1069703" y="3186718"/>
            <a:ext cx="475343" cy="581367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state</a:t>
            </a:r>
            <a:endParaRPr lang="ru-RU" sz="9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2744A7F-EB7F-262C-94B2-E77626B5AF47}"/>
              </a:ext>
            </a:extLst>
          </p:cNvPr>
          <p:cNvCxnSpPr>
            <a:cxnSpLocks/>
            <a:stCxn id="14" idx="1"/>
            <a:endCxn id="22" idx="4"/>
          </p:cNvCxnSpPr>
          <p:nvPr/>
        </p:nvCxnSpPr>
        <p:spPr>
          <a:xfrm flipH="1" flipV="1">
            <a:off x="1545046" y="3477402"/>
            <a:ext cx="353422" cy="10092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907F737-ED7B-B5E8-BF11-72428A558589}"/>
              </a:ext>
            </a:extLst>
          </p:cNvPr>
          <p:cNvSpPr txBox="1"/>
          <p:nvPr/>
        </p:nvSpPr>
        <p:spPr>
          <a:xfrm>
            <a:off x="3527514" y="2647148"/>
            <a:ext cx="17063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b-NO" sz="1800" b="1" dirty="0" err="1">
                <a:solidFill>
                  <a:srgbClr val="FFFFFF"/>
                </a:solidFill>
              </a:rPr>
              <a:t>Subscriber</a:t>
            </a:r>
            <a:r>
              <a:rPr lang="nb-NO" sz="1800" b="1" dirty="0">
                <a:solidFill>
                  <a:srgbClr val="FFFFFF"/>
                </a:solidFill>
              </a:rPr>
              <a:t> app</a:t>
            </a:r>
            <a:endParaRPr lang="ru-RU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41C78F43-5C28-ED31-E0BC-D0CF7CB9A6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680" y="1300118"/>
            <a:ext cx="483734" cy="483734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5D23223C-62E8-FD19-6C41-2CC8C3046C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8058" y="3016480"/>
            <a:ext cx="483734" cy="483734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7A50093C-F1FD-699F-5654-94C9C03AC2D6}"/>
              </a:ext>
            </a:extLst>
          </p:cNvPr>
          <p:cNvSpPr txBox="1"/>
          <p:nvPr/>
        </p:nvSpPr>
        <p:spPr>
          <a:xfrm>
            <a:off x="825500" y="6135694"/>
            <a:ext cx="10858500" cy="300082"/>
          </a:xfrm>
          <a:prstGeom prst="rect">
            <a:avLst/>
          </a:prstGeom>
          <a:noFill/>
        </p:spPr>
        <p:txBody>
          <a:bodyPr vert="horz" wrap="square" tIns="38100" rtlCol="0">
            <a:spAutoFit/>
          </a:bodyPr>
          <a:lstStyle/>
          <a:p>
            <a:r>
              <a:rPr sz="1400" b="1" dirty="0">
                <a:solidFill>
                  <a:srgbClr val="1F5F87"/>
                </a:solidFill>
              </a:rPr>
              <a:t>✔  </a:t>
            </a:r>
            <a:r>
              <a:rPr lang="en-US" sz="1400" b="1" dirty="0">
                <a:solidFill>
                  <a:srgbClr val="1F5F87"/>
                </a:solidFill>
              </a:rPr>
              <a:t>Crash resiliency</a:t>
            </a:r>
            <a:r>
              <a:rPr sz="1400" b="1" dirty="0">
                <a:solidFill>
                  <a:srgbClr val="1F5F87"/>
                </a:solidFill>
              </a:rPr>
              <a:t>:  </a:t>
            </a:r>
            <a:r>
              <a:rPr lang="en-US" sz="1400" dirty="0">
                <a:solidFill>
                  <a:srgbClr val="1F5F87"/>
                </a:solidFill>
              </a:rPr>
              <a:t>messages may be redelivered if delivery or processing fails</a:t>
            </a:r>
            <a:endParaRPr lang="ru-RU" sz="1400" dirty="0">
              <a:solidFill>
                <a:schemeClr val="accent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3FD5BD-01DB-6C46-D375-EF1759135C09}"/>
              </a:ext>
            </a:extLst>
          </p:cNvPr>
          <p:cNvSpPr txBox="1"/>
          <p:nvPr/>
        </p:nvSpPr>
        <p:spPr>
          <a:xfrm>
            <a:off x="2016578" y="963609"/>
            <a:ext cx="17063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b-NO" sz="1800" b="1" dirty="0">
                <a:solidFill>
                  <a:srgbClr val="FFFFFF"/>
                </a:solidFill>
              </a:rPr>
              <a:t>Publisher app</a:t>
            </a:r>
            <a:endParaRPr lang="ru-RU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174161F9-335A-1B0E-5F1B-14F2065827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3455" y="1250896"/>
            <a:ext cx="668819" cy="668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036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Presento-Theme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o-Theme" id="{A9E807D7-4FFB-4479-BBCD-71214898ADBA}" vid="{A6C7F493-EAF3-460E-9A27-C3830BC5E02B}"/>
    </a:ext>
  </a:extLst>
</a:theme>
</file>

<file path=ppt/theme/themeOverride1.xml><?xml version="1.0" encoding="utf-8"?>
<a:themeOverride xmlns:a="http://schemas.openxmlformats.org/drawingml/2006/main">
  <a:clrScheme name="Office 2013 - 2022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 2013 - 2022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 2013 - 2022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 2013 - 2022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 2013 - 2022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224</TotalTime>
  <Words>1034</Words>
  <Application>Microsoft Office PowerPoint</Application>
  <PresentationFormat>Widescreen</PresentationFormat>
  <Paragraphs>87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Presento-Theme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Mikael Chudinov</dc:creator>
  <cp:lastModifiedBy>Mikael Chudinov</cp:lastModifiedBy>
  <cp:revision>20</cp:revision>
  <dcterms:created xsi:type="dcterms:W3CDTF">2026-04-08T10:06:31Z</dcterms:created>
  <dcterms:modified xsi:type="dcterms:W3CDTF">2026-04-10T11:30:39Z</dcterms:modified>
</cp:coreProperties>
</file>